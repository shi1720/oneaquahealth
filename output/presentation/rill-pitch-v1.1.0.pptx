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4fcdc120274d80" /><Relationship Type="http://schemas.openxmlformats.org/officeDocument/2006/relationships/extended-properties" Target="/docProps/app.xml" Id="R110cd58a1ce94506" /><Relationship Type="http://schemas.openxmlformats.org/officeDocument/2006/relationships/officeDocument" Target="/ppt/presentation.xml" Id="R17cec5123be248d6" /></Relationships>
</file>

<file path=ppt/presentation.xml><?xml version="1.0" encoding="utf-8"?>
<p:presentation xmlns:p="http://schemas.openxmlformats.org/presentationml/2006/main">
  <p:sldMasterIdLst>
    <p:sldMasterId xmlns:r="http://schemas.openxmlformats.org/officeDocument/2006/relationships" id="2147483648" r:id="R84535fef863241bb"/>
  </p:sldMasterIdLst>
  <p:notesMasterIdLst>
    <p:notesMasterId xmlns:r="http://schemas.openxmlformats.org/officeDocument/2006/relationships" r:id="Rd1ec1ce39ab64a23"/>
  </p:notesMasterIdLst>
  <p:sldIdLst>
    <p:sldId xmlns:r="http://schemas.openxmlformats.org/officeDocument/2006/relationships" id="256" r:id="R329b342edade4583"/>
    <p:sldId xmlns:r="http://schemas.openxmlformats.org/officeDocument/2006/relationships" id="257" r:id="Ra70da134b1324432"/>
    <p:sldId xmlns:r="http://schemas.openxmlformats.org/officeDocument/2006/relationships" id="258" r:id="R0217744284fd4956"/>
    <p:sldId xmlns:r="http://schemas.openxmlformats.org/officeDocument/2006/relationships" id="259" r:id="Rdc5bbc043b764d59"/>
    <p:sldId xmlns:r="http://schemas.openxmlformats.org/officeDocument/2006/relationships" id="260" r:id="Rc601b5ca19b74e67"/>
    <p:sldId xmlns:r="http://schemas.openxmlformats.org/officeDocument/2006/relationships" id="261" r:id="R546d6621888b45ff"/>
    <p:sldId xmlns:r="http://schemas.openxmlformats.org/officeDocument/2006/relationships" id="262" r:id="Rb6345de8196b4eba"/>
    <p:sldId xmlns:r="http://schemas.openxmlformats.org/officeDocument/2006/relationships" id="263" r:id="R2194eb8d782648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5427cad9e24ddc" /><Relationship Type="http://schemas.openxmlformats.org/officeDocument/2006/relationships/slideMaster" Target="/ppt/slideMasters/slideMaster1.xml" Id="R84535fef863241bb" /><Relationship Type="http://schemas.openxmlformats.org/officeDocument/2006/relationships/notesMaster" Target="/ppt/notesMasters/notesMaster1.xml" Id="Rd1ec1ce39ab64a23" /><Relationship Type="http://schemas.openxmlformats.org/officeDocument/2006/relationships/presProps" Target="/ppt/presProps.xml" Id="R9608add7d9d54552" /><Relationship Type="http://schemas.openxmlformats.org/officeDocument/2006/relationships/tableStyles" Target="/ppt/tableStyles.xml" Id="R5751915ce7754849" /><Relationship Type="http://schemas.openxmlformats.org/officeDocument/2006/relationships/slide" Target="/ppt/slides/slide1.xml" Id="R329b342edade4583" /><Relationship Type="http://schemas.openxmlformats.org/officeDocument/2006/relationships/slide" Target="/ppt/slides/slide2.xml" Id="Ra70da134b1324432" /><Relationship Type="http://schemas.openxmlformats.org/officeDocument/2006/relationships/slide" Target="/ppt/slides/slide3.xml" Id="R0217744284fd4956" /><Relationship Type="http://schemas.openxmlformats.org/officeDocument/2006/relationships/slide" Target="/ppt/slides/slide4.xml" Id="Rdc5bbc043b764d59" /><Relationship Type="http://schemas.openxmlformats.org/officeDocument/2006/relationships/slide" Target="/ppt/slides/slide5.xml" Id="Rc601b5ca19b74e67" /><Relationship Type="http://schemas.openxmlformats.org/officeDocument/2006/relationships/slide" Target="/ppt/slides/slide6.xml" Id="R546d6621888b45ff" /><Relationship Type="http://schemas.openxmlformats.org/officeDocument/2006/relationships/slide" Target="/ppt/slides/slide7.xml" Id="Rb6345de8196b4eba" /><Relationship Type="http://schemas.openxmlformats.org/officeDocument/2006/relationships/slide" Target="/ppt/slides/slide8.xml" Id="R2194eb8d782648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7add9f6d0445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b5e9e1cfc6426e" /><Relationship Type="http://schemas.openxmlformats.org/officeDocument/2006/relationships/notesMaster" Target="/ppt/notesMasters/notesMaster1.xml" Id="R3b9b9431bb6b48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c075951a39490a" /><Relationship Type="http://schemas.openxmlformats.org/officeDocument/2006/relationships/notesMaster" Target="/ppt/notesMasters/notesMaster1.xml" Id="Rf7765cb533bf4d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2b9550d8ff4f2d" /><Relationship Type="http://schemas.openxmlformats.org/officeDocument/2006/relationships/notesMaster" Target="/ppt/notesMasters/notesMaster1.xml" Id="R5c6040d1f06a4d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7ef0919c104b5a" /><Relationship Type="http://schemas.openxmlformats.org/officeDocument/2006/relationships/notesMaster" Target="/ppt/notesMasters/notesMaster1.xml" Id="Re6dc6a972b114a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be92101ea24126" /><Relationship Type="http://schemas.openxmlformats.org/officeDocument/2006/relationships/notesMaster" Target="/ppt/notesMasters/notesMaster1.xml" Id="Rb1393005ea9e40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4167ef6c074fcf" /><Relationship Type="http://schemas.openxmlformats.org/officeDocument/2006/relationships/notesMaster" Target="/ppt/notesMasters/notesMaster1.xml" Id="R77060da3bc9a4c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15d5d65128428e" /><Relationship Type="http://schemas.openxmlformats.org/officeDocument/2006/relationships/notesMaster" Target="/ppt/notesMasters/notesMaster1.xml" Id="R5c99212cf66c4f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c8b1a67d2d4bea" /><Relationship Type="http://schemas.openxmlformats.org/officeDocument/2006/relationships/notesMaster" Target="/ppt/notesMasters/notesMaster1.xml" Id="Re833d5318f164d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OneAquaHealth IEEE Global Hackathon. Primary Track 2: Data-to-Insight. Rill is a software demonstration. No customer, field validation, or ecological impact is claimed. Creator: Shivam Gupta.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OneAquaHealth, Project Solutions, accessed 23 September 2026. https://www.oneaquahealth.eu/project-solutions/ . The site lists the Citizen Science App, City Dashboards, Resilience Map, GEOSSIP, and Decision Support System. Competitive context: Cartographer already offers monitoring, QA, and confirmation workflows, https://cartographer.io/ and https://help.cartographer.io/riverfly/recording-a-sample . No worldwide novelty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shows the actual Rill application using synthetic seed data. Workflow includes structured observations, distinct evidence and priority labels, coordinator review, tasks, results, and recheck tasks. The demonstration does not constitute environmental findings or fieldwork.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Rill selects verification work within a requested time budget using versioned deterministic rules. Task durations are estimates. Serious signs and unsafe conditions block ordinary volunteer dispatch and require human handling. Priority is an operational heuristic, not a calibrated hazard probability. Scenario and observations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CDC, How to Recognize a Harmful Algal Bloom, https://www.cdc.gov/harmful-algal-blooms/about/how-to-recognize-a-harmful-algal-bloom.html . Visual inspection cannot establish whether a bloom is harmful. Rill does not diagnose toxins or pathogens, declare safe swimming water, or infer disease probability. The One Health questions are investigation context rather than proof of causality.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reference: docs/API-CONTRACT.md and the shipped Rill repository, https://github.com/shi1720/OneAquaHealth . Live directory imports provide site names and coordinates only, not water assessments or permission to access a location. CSV/JSON batch import validates records with explicit destination-site matching and preserves synthetic-data boundaries. Full JSON exports contain all retained audit events and historical review snapshots. The hosted origin https://rill-streams.web.app serves Firebase Hosting with a Cloud Run API and PostgreSQL on Cloud SQL. The hosted API lifecycle was verified. Version 1.1 local verification: SQLite and libSQL each passed 86 tests, with four PostgreSQL-only tests skipped in those runs; the dedicated PostgreSQL suite passed 53 tests. Current CI and browser evidence is recorded in docs/qa/verification.md. This is a pilot deployment, not production certification or a field-validated service. FHIR R4 Observation can reference Location: https://hl7.org/fhir/R4/observation.html . Export mapping is experimental and does not claim conformance to the evolving OAH IG. No fictional patients.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hypothesis, not market validation. Illustrative buyer arithmetic: 4 hours/month × €40/hour = €160/month of coordinator capacity. Proposed subscription €149/month. Illustrative monthly delivery costs: allocated infrastructure €15 + support €30 (45 minutes at €40/hour) + operations €5 = €50. Revenue less these assumed costs = €99 before development, acquisition, taxes and other fixed overhead. These are budget assumptions, not actual costs or achieved margins. Sampling and remediation are excluded. Category evidence: Cartographer offers paid environmental-monitoring subscriptions and nonprofit pricing, https://cartographer.io/pricing . Pilot target organisations are prospective, not partners.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invitation is prospective and makes no partnership claim. Hosted app: https://rill-streams.web.app . Repository: https://github.com/shi1720/OneAquaHealth . Track 2: Data-to-Insight. Project creator Shivam Gupta. AI-assisted research, design, implementation, and documentation are disclosed in submission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58a782113244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a582371c0f48fa" /><Relationship Type="http://schemas.openxmlformats.org/officeDocument/2006/relationships/slideLayout" Target="/ppt/slideLayouts/slideLayout1.xml" Id="R68a5f49266a341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a5f49266a341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302921cc0e47f8" /><Relationship Type="http://schemas.openxmlformats.org/officeDocument/2006/relationships/notesSlide" Target="/ppt/notesSlides/notesSlide1.xml" Id="Rcf078bd1c8114a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0690f0f26d4c92" /><Relationship Type="http://schemas.openxmlformats.org/officeDocument/2006/relationships/notesSlide" Target="/ppt/notesSlides/notesSlide2.xml" Id="R4efe3b1a41214c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f6d390727e4ad3" /><Relationship Type="http://schemas.openxmlformats.org/officeDocument/2006/relationships/image" Target="/ppt/media/image.png" Id="R447e9f1e65174132" /><Relationship Type="http://schemas.openxmlformats.org/officeDocument/2006/relationships/notesSlide" Target="/ppt/notesSlides/notesSlide3.xml" Id="R84754cfe2e1241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5867a26472491b" /><Relationship Type="http://schemas.openxmlformats.org/officeDocument/2006/relationships/image" Target="/ppt/media/image2.png" Id="R18b8249422c347af" /><Relationship Type="http://schemas.openxmlformats.org/officeDocument/2006/relationships/notesSlide" Target="/ppt/notesSlides/notesSlide4.xml" Id="R1160c1d44f234c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6a0e9995b147be" /><Relationship Type="http://schemas.openxmlformats.org/officeDocument/2006/relationships/notesSlide" Target="/ppt/notesSlides/notesSlide5.xml" Id="R8b35ddc1f87649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7c8e0f489243e0" /><Relationship Type="http://schemas.openxmlformats.org/officeDocument/2006/relationships/notesSlide" Target="/ppt/notesSlides/notesSlide6.xml" Id="R1f8c522cea2e4c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f1186da7ce457f" /><Relationship Type="http://schemas.openxmlformats.org/officeDocument/2006/relationships/notesSlide" Target="/ppt/notesSlides/notesSlide7.xml" Id="R13351c15420248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fd7e8139d14a55" /><Relationship Type="http://schemas.openxmlformats.org/officeDocument/2006/relationships/notesSlide" Target="/ppt/notesSlides/notesSlide8.xml" Id="Rc883d386a14742ff" /></Relationships>
</file>

<file path=ppt/slides/slide1.xml><?xml version="1.0" encoding="utf-8"?>
<p:sld xmlns:p="http://schemas.openxmlformats.org/presentationml/2006/main">
  <p:cSld>
    <p:bg>
      <p:bgPr>
        <a:solidFill xmlns:a="http://schemas.openxmlformats.org/drawingml/2006/main">
          <a:srgbClr val="214B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EF404F-1578-47B3-8D4A-6530372923AB}"/>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DECAD"/>
                </a:solidFill>
                <a:latin typeface="Noto Sans"/>
                <a:ea typeface="Noto Sans"/>
                <a:cs typeface="Noto Sans"/>
              </a:defRPr>
            </a:pPr>
            <a:r>
              <a:rPr sz="1575" b="1">
                <a:solidFill>
                  <a:srgbClr val="DDECAD"/>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7817EB90-884E-4E67-95CF-5B85D9852890}"/>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9BF"/>
                </a:solidFill>
                <a:latin typeface="Noto Sans"/>
                <a:ea typeface="Noto Sans"/>
                <a:cs typeface="Noto Sans"/>
              </a:defRPr>
            </a:pPr>
            <a:r>
              <a:rPr sz="1275" b="0">
                <a:solidFill>
                  <a:srgbClr val="B8C9BF"/>
                </a:solidFill>
                <a:latin typeface="Noto Sans"/>
                <a:ea typeface="Noto Sans"/>
                <a:cs typeface="Noto Sans"/>
              </a:rPr>
              <a:t>01</a:t>
            </a:r>
          </a:p>
        </p:txBody>
      </p:sp>
      <p:sp>
        <p:nvSpPr>
          <p:cNvPr id="3" name="">
            <a:extLst xmlns:a="http://schemas.openxmlformats.org/drawingml/2006/main">
              <a:ext uri="{FF2B5EF4-FFF2-40B4-BE49-F238E27FC236}">
                <a16:creationId xmlns:a16="http://schemas.microsoft.com/office/drawing/2014/main" id="{DEDB670D-65E5-4C6D-B9BB-302293049D2D}"/>
              </a:ext>
            </a:extLst>
          </p:cNvPr>
          <p:cNvSpPr>
            <a:spLocks xmlns:a="http://schemas.openxmlformats.org/drawingml/2006/main" noGrp="1"/>
          </p:cNvSpPr>
          <p:nvPr/>
        </p:nvSpPr>
        <p:spPr>
          <a:xfrm xmlns:a="http://schemas.openxmlformats.org/drawingml/2006/main">
            <a:off x="571500" y="1276350"/>
            <a:ext cx="11049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0">
                <a:solidFill>
                  <a:srgbClr val="F5F6F1"/>
                </a:solidFill>
                <a:latin typeface="Caladea"/>
                <a:ea typeface="Caladea"/>
                <a:cs typeface="Caladea"/>
              </a:defRPr>
            </a:pPr>
            <a:r>
              <a:rPr sz="6600" b="0">
                <a:solidFill>
                  <a:srgbClr val="F5F6F1"/>
                </a:solidFill>
                <a:latin typeface="Caladea"/>
                <a:ea typeface="Caladea"/>
                <a:cs typeface="Caladea"/>
              </a:rPr>
              <a:t>A stream concern.</a:t>
            </a:r>
          </a:p>
          <a:p xmlns:a="http://schemas.openxmlformats.org/drawingml/2006/main">
            <a:pPr>
              <a:defRPr sz="6600" b="0">
                <a:solidFill>
                  <a:srgbClr val="F5F6F1"/>
                </a:solidFill>
                <a:latin typeface="Caladea"/>
                <a:ea typeface="Caladea"/>
                <a:cs typeface="Caladea"/>
              </a:defRPr>
            </a:pPr>
            <a:r>
              <a:rPr sz="6600" b="0">
                <a:solidFill>
                  <a:srgbClr val="F5F6F1"/>
                </a:solidFill>
                <a:latin typeface="Caladea"/>
                <a:ea typeface="Caladea"/>
                <a:cs typeface="Caladea"/>
              </a:rPr>
              <a:t>Two hours to act.</a:t>
            </a:r>
          </a:p>
        </p:txBody>
      </p:sp>
      <p:sp>
        <p:nvSpPr>
          <p:cNvPr id="4" name="">
            <a:extLst xmlns:a="http://schemas.openxmlformats.org/drawingml/2006/main">
              <a:ext uri="{FF2B5EF4-FFF2-40B4-BE49-F238E27FC236}">
                <a16:creationId xmlns:a16="http://schemas.microsoft.com/office/drawing/2014/main" id="{981CAF72-0FB5-4361-A2DB-596ABCF3108A}"/>
              </a:ext>
            </a:extLst>
          </p:cNvPr>
          <p:cNvSpPr>
            <a:spLocks xmlns:a="http://schemas.openxmlformats.org/drawingml/2006/main" noGrp="1"/>
          </p:cNvSpPr>
          <p:nvPr/>
        </p:nvSpPr>
        <p:spPr>
          <a:xfrm xmlns:a="http://schemas.openxmlformats.org/drawingml/2006/main">
            <a:off x="609600" y="4171950"/>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DECAD"/>
                </a:solidFill>
                <a:latin typeface="Noto Sans"/>
                <a:ea typeface="Noto Sans"/>
                <a:cs typeface="Noto Sans"/>
              </a:defRPr>
            </a:pPr>
            <a:r>
              <a:rPr sz="2175" b="0">
                <a:solidFill>
                  <a:srgbClr val="DDECAD"/>
                </a:solidFill>
                <a:latin typeface="Noto Sans"/>
                <a:ea typeface="Noto Sans"/>
                <a:cs typeface="Noto Sans"/>
              </a:rPr>
              <a:t>Rill helps a monitoring team choose its next useful check</a:t>
            </a:r>
          </a:p>
          <a:p xmlns:a="http://schemas.openxmlformats.org/drawingml/2006/main">
            <a:pPr>
              <a:defRPr sz="2175" b="0">
                <a:solidFill>
                  <a:srgbClr val="DDECAD"/>
                </a:solidFill>
                <a:latin typeface="Noto Sans"/>
                <a:ea typeface="Noto Sans"/>
                <a:cs typeface="Noto Sans"/>
              </a:defRPr>
            </a:pPr>
            <a:r>
              <a:rPr sz="2175" b="0">
                <a:solidFill>
                  <a:srgbClr val="DDECAD"/>
                </a:solidFill>
                <a:latin typeface="Noto Sans"/>
                <a:ea typeface="Noto Sans"/>
                <a:cs typeface="Noto Sans"/>
              </a:rPr>
              <a:t>and track what happens afterwards.</a:t>
            </a:r>
          </a:p>
        </p:txBody>
      </p:sp>
      <p:sp>
        <p:nvSpPr>
          <p:cNvPr id="5" name="">
            <a:extLst xmlns:a="http://schemas.openxmlformats.org/drawingml/2006/main">
              <a:ext uri="{FF2B5EF4-FFF2-40B4-BE49-F238E27FC236}">
                <a16:creationId xmlns:a16="http://schemas.microsoft.com/office/drawing/2014/main" id="{F1117A0F-FFB4-40CD-8FE6-B12056A64ECD}"/>
              </a:ext>
            </a:extLst>
          </p:cNvPr>
          <p:cNvSpPr>
            <a:spLocks xmlns:a="http://schemas.openxmlformats.org/drawingml/2006/main" noGrp="1"/>
          </p:cNvSpPr>
          <p:nvPr/>
        </p:nvSpPr>
        <p:spPr>
          <a:xfrm xmlns:a="http://schemas.openxmlformats.org/drawingml/2006/main">
            <a:off x="609600" y="5791200"/>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F6F1"/>
                </a:solidFill>
                <a:latin typeface="Noto Sans"/>
                <a:ea typeface="Noto Sans"/>
                <a:cs typeface="Noto Sans"/>
              </a:defRPr>
            </a:pPr>
            <a:r>
              <a:rPr sz="1725" b="0">
                <a:solidFill>
                  <a:srgbClr val="F5F6F1"/>
                </a:solidFill>
                <a:latin typeface="Noto Sans"/>
                <a:ea typeface="Noto Sans"/>
                <a:cs typeface="Noto Sans"/>
              </a:rPr>
              <a:t>Shivam Gupta · Project creator</a:t>
            </a:r>
          </a:p>
        </p:txBody>
      </p:sp>
    </p:spTree>
    <p:extLst>
      <p:ext uri="{BB962C8B-B14F-4D97-AF65-F5344CB8AC3E}">
        <p14:creationId xmlns:p14="http://schemas.microsoft.com/office/powerpoint/2010/main" val="77092757"/>
      </p:ext>
    </p:extLst>
  </p:cSld>
</p:sld>
</file>

<file path=ppt/slides/slide2.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565984-B8BC-4147-9821-89638A15E671}"/>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4B3C"/>
                </a:solidFill>
                <a:latin typeface="Noto Sans"/>
                <a:ea typeface="Noto Sans"/>
                <a:cs typeface="Noto Sans"/>
              </a:defRPr>
            </a:pPr>
            <a:r>
              <a:rPr sz="1575" b="1">
                <a:solidFill>
                  <a:srgbClr val="214B3C"/>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36C9ADAC-2922-4233-98B0-B1BA248DCD90}"/>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14EF359E-F73A-40A7-BFAE-C2D826B9F2C7}"/>
              </a:ext>
            </a:extLst>
          </p:cNvPr>
          <p:cNvSpPr>
            <a:spLocks xmlns:a="http://schemas.openxmlformats.org/drawingml/2006/main" noGrp="1"/>
          </p:cNvSpPr>
          <p:nvPr/>
        </p:nvSpPr>
        <p:spPr>
          <a:xfrm xmlns:a="http://schemas.openxmlformats.org/drawingml/2006/main">
            <a:off x="571500" y="9144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14B3C"/>
                </a:solidFill>
                <a:latin typeface="Caladea"/>
                <a:ea typeface="Caladea"/>
                <a:cs typeface="Caladea"/>
              </a:defRPr>
            </a:pPr>
            <a:r>
              <a:rPr sz="4350" b="0">
                <a:solidFill>
                  <a:srgbClr val="214B3C"/>
                </a:solidFill>
                <a:latin typeface="Caladea"/>
                <a:ea typeface="Caladea"/>
                <a:cs typeface="Caladea"/>
              </a:rPr>
              <a:t>The work after a report</a:t>
            </a:r>
          </a:p>
        </p:txBody>
      </p:sp>
      <p:sp>
        <p:nvSpPr>
          <p:cNvPr id="4" name="">
            <a:extLst xmlns:a="http://schemas.openxmlformats.org/drawingml/2006/main">
              <a:ext uri="{FF2B5EF4-FFF2-40B4-BE49-F238E27FC236}">
                <a16:creationId xmlns:a16="http://schemas.microsoft.com/office/drawing/2014/main" id="{50EA72A9-EE57-45CD-900D-25098099CCBE}"/>
              </a:ext>
            </a:extLst>
          </p:cNvPr>
          <p:cNvSpPr>
            <a:spLocks xmlns:a="http://schemas.openxmlformats.org/drawingml/2006/main" noGrp="1"/>
          </p:cNvSpPr>
          <p:nvPr/>
        </p:nvSpPr>
        <p:spPr>
          <a:xfrm xmlns:a="http://schemas.openxmlformats.org/drawingml/2006/main">
            <a:off x="609600" y="21431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4B3C"/>
                </a:solidFill>
                <a:latin typeface="Noto Sans"/>
                <a:ea typeface="Noto Sans"/>
                <a:cs typeface="Noto Sans"/>
              </a:defRPr>
            </a:pPr>
            <a:r>
              <a:rPr sz="1875" b="1">
                <a:solidFill>
                  <a:srgbClr val="214B3C"/>
                </a:solidFill>
                <a:latin typeface="Noto Sans"/>
                <a:ea typeface="Noto Sans"/>
                <a:cs typeface="Noto Sans"/>
              </a:rPr>
              <a:t>Existing tools</a:t>
            </a:r>
          </a:p>
        </p:txBody>
      </p:sp>
      <p:sp>
        <p:nvSpPr>
          <p:cNvPr id="5" name="">
            <a:extLst xmlns:a="http://schemas.openxmlformats.org/drawingml/2006/main">
              <a:ext uri="{FF2B5EF4-FFF2-40B4-BE49-F238E27FC236}">
                <a16:creationId xmlns:a16="http://schemas.microsoft.com/office/drawing/2014/main" id="{2CF20498-74F6-4F6D-8C07-549833B3AF05}"/>
              </a:ext>
            </a:extLst>
          </p:cNvPr>
          <p:cNvSpPr>
            <a:spLocks xmlns:a="http://schemas.openxmlformats.org/drawingml/2006/main" noGrp="1"/>
          </p:cNvSpPr>
          <p:nvPr/>
        </p:nvSpPr>
        <p:spPr>
          <a:xfrm xmlns:a="http://schemas.openxmlformats.org/drawingml/2006/main">
            <a:off x="609600" y="2781300"/>
            <a:ext cx="4905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Citizen observations</a:t>
            </a:r>
          </a:p>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City dashboards</a:t>
            </a:r>
          </a:p>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Rehabilitation guidance</a:t>
            </a:r>
          </a:p>
        </p:txBody>
      </p:sp>
      <p:sp>
        <p:nvSpPr>
          <p:cNvPr id="6" name="">
            <a:extLst xmlns:a="http://schemas.openxmlformats.org/drawingml/2006/main">
              <a:ext uri="{FF2B5EF4-FFF2-40B4-BE49-F238E27FC236}">
                <a16:creationId xmlns:a16="http://schemas.microsoft.com/office/drawing/2014/main" id="{7B905DD0-D806-45ED-BEFE-F89282B60CDB}"/>
              </a:ext>
            </a:extLst>
          </p:cNvPr>
          <p:cNvSpPr>
            <a:spLocks xmlns:a="http://schemas.openxmlformats.org/drawingml/2006/main" noGrp="1"/>
          </p:cNvSpPr>
          <p:nvPr/>
        </p:nvSpPr>
        <p:spPr>
          <a:xfrm xmlns:a="http://schemas.openxmlformats.org/drawingml/2006/main">
            <a:off x="6515100" y="21431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14B3C"/>
                </a:solidFill>
                <a:latin typeface="Noto Sans"/>
                <a:ea typeface="Noto Sans"/>
                <a:cs typeface="Noto Sans"/>
              </a:defRPr>
            </a:pPr>
            <a:r>
              <a:rPr sz="1875" b="1">
                <a:solidFill>
                  <a:srgbClr val="214B3C"/>
                </a:solidFill>
                <a:latin typeface="Noto Sans"/>
                <a:ea typeface="Noto Sans"/>
                <a:cs typeface="Noto Sans"/>
              </a:rPr>
              <a:t>The Rill decision</a:t>
            </a:r>
          </a:p>
        </p:txBody>
      </p:sp>
      <p:sp>
        <p:nvSpPr>
          <p:cNvPr id="7" name="">
            <a:extLst xmlns:a="http://schemas.openxmlformats.org/drawingml/2006/main">
              <a:ext uri="{FF2B5EF4-FFF2-40B4-BE49-F238E27FC236}">
                <a16:creationId xmlns:a16="http://schemas.microsoft.com/office/drawing/2014/main" id="{387D92F3-C501-41FB-B9F4-CB9B37213BA6}"/>
              </a:ext>
            </a:extLst>
          </p:cNvPr>
          <p:cNvSpPr>
            <a:spLocks xmlns:a="http://schemas.openxmlformats.org/drawingml/2006/main" noGrp="1"/>
          </p:cNvSpPr>
          <p:nvPr/>
        </p:nvSpPr>
        <p:spPr>
          <a:xfrm xmlns:a="http://schemas.openxmlformats.org/drawingml/2006/main">
            <a:off x="6515100" y="2781300"/>
            <a:ext cx="50958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Which check comes next?</a:t>
            </a:r>
          </a:p>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Who owns the response?</a:t>
            </a:r>
          </a:p>
          <a:p xmlns:a="http://schemas.openxmlformats.org/drawingml/2006/main">
            <a:pPr>
              <a:defRPr sz="2475" b="0">
                <a:solidFill>
                  <a:srgbClr val="214B3C"/>
                </a:solidFill>
                <a:latin typeface="Noto Sans"/>
                <a:ea typeface="Noto Sans"/>
                <a:cs typeface="Noto Sans"/>
              </a:defRPr>
            </a:pPr>
            <a:r>
              <a:rPr sz="2475" b="0">
                <a:solidFill>
                  <a:srgbClr val="214B3C"/>
                </a:solidFill>
                <a:latin typeface="Noto Sans"/>
                <a:ea typeface="Noto Sans"/>
                <a:cs typeface="Noto Sans"/>
              </a:rPr>
              <a:t>What did the recheck find?</a:t>
            </a:r>
          </a:p>
        </p:txBody>
      </p:sp>
      <p:sp>
        <p:nvSpPr>
          <p:cNvPr id="8" name="">
            <a:extLst xmlns:a="http://schemas.openxmlformats.org/drawingml/2006/main">
              <a:ext uri="{FF2B5EF4-FFF2-40B4-BE49-F238E27FC236}">
                <a16:creationId xmlns:a16="http://schemas.microsoft.com/office/drawing/2014/main" id="{2CAAC605-FE2A-4F0E-B065-3EB50931B550}"/>
              </a:ext>
            </a:extLst>
          </p:cNvPr>
          <p:cNvSpPr>
            <a:spLocks xmlns:a="http://schemas.openxmlformats.org/drawingml/2006/main" noGrp="1"/>
          </p:cNvSpPr>
          <p:nvPr/>
        </p:nvSpPr>
        <p:spPr>
          <a:xfrm xmlns:a="http://schemas.openxmlformats.org/drawingml/2006/main">
            <a:off x="609600" y="536257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7369"/>
                </a:solidFill>
                <a:latin typeface="Noto Sans"/>
                <a:ea typeface="Noto Sans"/>
                <a:cs typeface="Noto Sans"/>
              </a:defRPr>
            </a:pPr>
            <a:r>
              <a:rPr sz="1725" b="0">
                <a:solidFill>
                  <a:srgbClr val="667369"/>
                </a:solidFill>
                <a:latin typeface="Noto Sans"/>
                <a:ea typeface="Noto Sans"/>
                <a:cs typeface="Noto Sans"/>
              </a:rPr>
              <a:t>OneAquaHealth already offers collection and decision tools. Rill focuses on the fieldwork decision that follows.</a:t>
            </a:r>
          </a:p>
        </p:txBody>
      </p:sp>
      <p:sp>
        <p:nvSpPr>
          <p:cNvPr id="9" name="">
            <a:extLst xmlns:a="http://schemas.openxmlformats.org/drawingml/2006/main">
              <a:ext uri="{FF2B5EF4-FFF2-40B4-BE49-F238E27FC236}">
                <a16:creationId xmlns:a16="http://schemas.microsoft.com/office/drawing/2014/main" id="{5133E779-1288-470C-BAF8-9CA8B1457C69}"/>
              </a:ext>
            </a:extLst>
          </p:cNvPr>
          <p:cNvSpPr>
            <a:spLocks xmlns:a="http://schemas.openxmlformats.org/drawingml/2006/main" noGrp="1"/>
          </p:cNvSpPr>
          <p:nvPr/>
        </p:nvSpPr>
        <p:spPr>
          <a:xfrm xmlns:a="http://schemas.openxmlformats.org/drawingml/2006/main">
            <a:off x="609600" y="63436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7369"/>
                </a:solidFill>
                <a:latin typeface="Noto Sans"/>
                <a:ea typeface="Noto Sans"/>
                <a:cs typeface="Noto Sans"/>
              </a:defRPr>
            </a:pPr>
            <a:r>
              <a:rPr sz="1050" b="0">
                <a:solidFill>
                  <a:srgbClr val="667369"/>
                </a:solidFill>
                <a:latin typeface="Noto Sans"/>
                <a:ea typeface="Noto Sans"/>
                <a:cs typeface="Noto Sans"/>
              </a:rPr>
              <a:t>Source: oneaquahealth.eu/project-solutions</a:t>
            </a:r>
          </a:p>
        </p:txBody>
      </p:sp>
    </p:spTree>
    <p:extLst>
      <p:ext uri="{BB962C8B-B14F-4D97-AF65-F5344CB8AC3E}">
        <p14:creationId xmlns:p14="http://schemas.microsoft.com/office/powerpoint/2010/main" val="1004458090"/>
      </p:ext>
    </p:extLst>
  </p:cSld>
</p:sld>
</file>

<file path=ppt/slides/slide3.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E1CB71-888C-4087-927F-2EAEC9666FD5}"/>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4B3C"/>
                </a:solidFill>
                <a:latin typeface="Noto Sans"/>
                <a:ea typeface="Noto Sans"/>
                <a:cs typeface="Noto Sans"/>
              </a:defRPr>
            </a:pPr>
            <a:r>
              <a:rPr sz="1575" b="1">
                <a:solidFill>
                  <a:srgbClr val="214B3C"/>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8630227C-583E-4BE4-AA74-C985CE8702F1}"/>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B1ADC464-AEF9-4B41-8E83-CD238585148A}"/>
              </a:ext>
            </a:extLst>
          </p:cNvPr>
          <p:cNvSpPr>
            <a:spLocks xmlns:a="http://schemas.openxmlformats.org/drawingml/2006/main" noGrp="1"/>
          </p:cNvSpPr>
          <p:nvPr/>
        </p:nvSpPr>
        <p:spPr>
          <a:xfrm xmlns:a="http://schemas.openxmlformats.org/drawingml/2006/main">
            <a:off x="571500" y="876300"/>
            <a:ext cx="1095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214B3C"/>
                </a:solidFill>
                <a:latin typeface="Caladea"/>
                <a:ea typeface="Caladea"/>
                <a:cs typeface="Caladea"/>
              </a:defRPr>
            </a:pPr>
            <a:r>
              <a:rPr sz="3900" b="0">
                <a:solidFill>
                  <a:srgbClr val="214B3C"/>
                </a:solidFill>
                <a:latin typeface="Caladea"/>
                <a:ea typeface="Caladea"/>
                <a:cs typeface="Caladea"/>
              </a:rPr>
              <a:t>A concern with a visible next step</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47e9f1e65174132"/>
          <a:stretch xmlns:a="http://schemas.openxmlformats.org/drawingml/2006/main"/>
        </p:blipFill>
        <p:spPr>
          <a:xfrm xmlns:a="http://schemas.openxmlformats.org/drawingml/2006/main">
            <a:off x="571500" y="2102627"/>
            <a:ext cx="8477250" cy="375764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2622DF1-2D84-49FE-A114-C07A5AAFFDDA}"/>
              </a:ext>
            </a:extLst>
          </p:cNvPr>
          <p:cNvSpPr>
            <a:spLocks xmlns:a="http://schemas.openxmlformats.org/drawingml/2006/main" noGrp="1"/>
          </p:cNvSpPr>
          <p:nvPr/>
        </p:nvSpPr>
        <p:spPr>
          <a:xfrm xmlns:a="http://schemas.openxmlformats.org/drawingml/2006/main">
            <a:off x="9353550" y="2076450"/>
            <a:ext cx="2362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14B3C"/>
                </a:solidFill>
                <a:latin typeface="Noto Sans"/>
                <a:ea typeface="Noto Sans"/>
                <a:cs typeface="Noto Sans"/>
              </a:defRPr>
            </a:pPr>
            <a:r>
              <a:rPr sz="2175" b="1">
                <a:solidFill>
                  <a:srgbClr val="214B3C"/>
                </a:solidFill>
                <a:latin typeface="Noto Sans"/>
                <a:ea typeface="Noto Sans"/>
                <a:cs typeface="Noto Sans"/>
              </a:rPr>
              <a:t>Observe</a:t>
            </a:r>
          </a:p>
        </p:txBody>
      </p:sp>
      <p:sp>
        <p:nvSpPr>
          <p:cNvPr id="6" name="">
            <a:extLst xmlns:a="http://schemas.openxmlformats.org/drawingml/2006/main">
              <a:ext uri="{FF2B5EF4-FFF2-40B4-BE49-F238E27FC236}">
                <a16:creationId xmlns:a16="http://schemas.microsoft.com/office/drawing/2014/main" id="{05E21453-1FE5-4456-BA81-1DD711E56220}"/>
              </a:ext>
            </a:extLst>
          </p:cNvPr>
          <p:cNvSpPr>
            <a:spLocks xmlns:a="http://schemas.openxmlformats.org/drawingml/2006/main" noGrp="1"/>
          </p:cNvSpPr>
          <p:nvPr/>
        </p:nvSpPr>
        <p:spPr>
          <a:xfrm xmlns:a="http://schemas.openxmlformats.org/drawingml/2006/main">
            <a:off x="9353550" y="2571750"/>
            <a:ext cx="2362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14B3C"/>
                </a:solidFill>
                <a:latin typeface="Noto Sans"/>
                <a:ea typeface="Noto Sans"/>
                <a:cs typeface="Noto Sans"/>
              </a:defRPr>
            </a:pPr>
            <a:r>
              <a:rPr sz="1725" b="0">
                <a:solidFill>
                  <a:srgbClr val="214B3C"/>
                </a:solidFill>
                <a:latin typeface="Noto Sans"/>
                <a:ea typeface="Noto Sans"/>
                <a:cs typeface="Noto Sans"/>
              </a:rPr>
              <a:t>Describe the evidence</a:t>
            </a:r>
          </a:p>
          <a:p xmlns:a="http://schemas.openxmlformats.org/drawingml/2006/main">
            <a:pPr>
              <a:defRPr sz="1725" b="0">
                <a:solidFill>
                  <a:srgbClr val="214B3C"/>
                </a:solidFill>
                <a:latin typeface="Noto Sans"/>
                <a:ea typeface="Noto Sans"/>
                <a:cs typeface="Noto Sans"/>
              </a:defRPr>
            </a:pPr>
            <a:r>
              <a:rPr sz="1725" b="0">
                <a:solidFill>
                  <a:srgbClr val="214B3C"/>
                </a:solidFill>
                <a:latin typeface="Noto Sans"/>
                <a:ea typeface="Noto Sans"/>
                <a:cs typeface="Noto Sans"/>
              </a:rPr>
              <a:t>and uncertainty.</a:t>
            </a:r>
          </a:p>
        </p:txBody>
      </p:sp>
      <p:sp>
        <p:nvSpPr>
          <p:cNvPr id="7" name="">
            <a:extLst xmlns:a="http://schemas.openxmlformats.org/drawingml/2006/main">
              <a:ext uri="{FF2B5EF4-FFF2-40B4-BE49-F238E27FC236}">
                <a16:creationId xmlns:a16="http://schemas.microsoft.com/office/drawing/2014/main" id="{453ABA75-6DEF-4E6A-A443-9EA992EF88CD}"/>
              </a:ext>
            </a:extLst>
          </p:cNvPr>
          <p:cNvSpPr>
            <a:spLocks xmlns:a="http://schemas.openxmlformats.org/drawingml/2006/main" noGrp="1"/>
          </p:cNvSpPr>
          <p:nvPr/>
        </p:nvSpPr>
        <p:spPr>
          <a:xfrm xmlns:a="http://schemas.openxmlformats.org/drawingml/2006/main">
            <a:off x="9353550" y="3657600"/>
            <a:ext cx="2362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14B3C"/>
                </a:solidFill>
                <a:latin typeface="Noto Sans"/>
                <a:ea typeface="Noto Sans"/>
                <a:cs typeface="Noto Sans"/>
              </a:defRPr>
            </a:pPr>
            <a:r>
              <a:rPr sz="2175" b="1">
                <a:solidFill>
                  <a:srgbClr val="214B3C"/>
                </a:solidFill>
                <a:latin typeface="Noto Sans"/>
                <a:ea typeface="Noto Sans"/>
                <a:cs typeface="Noto Sans"/>
              </a:rPr>
              <a:t>Review</a:t>
            </a:r>
          </a:p>
        </p:txBody>
      </p:sp>
      <p:sp>
        <p:nvSpPr>
          <p:cNvPr id="8" name="">
            <a:extLst xmlns:a="http://schemas.openxmlformats.org/drawingml/2006/main">
              <a:ext uri="{FF2B5EF4-FFF2-40B4-BE49-F238E27FC236}">
                <a16:creationId xmlns:a16="http://schemas.microsoft.com/office/drawing/2014/main" id="{3E48FFF9-00F7-4F2E-83D8-4B9CC7A8972F}"/>
              </a:ext>
            </a:extLst>
          </p:cNvPr>
          <p:cNvSpPr>
            <a:spLocks xmlns:a="http://schemas.openxmlformats.org/drawingml/2006/main" noGrp="1"/>
          </p:cNvSpPr>
          <p:nvPr/>
        </p:nvSpPr>
        <p:spPr>
          <a:xfrm xmlns:a="http://schemas.openxmlformats.org/drawingml/2006/main">
            <a:off x="9353550" y="4152900"/>
            <a:ext cx="23622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14B3C"/>
                </a:solidFill>
                <a:latin typeface="Noto Sans"/>
                <a:ea typeface="Noto Sans"/>
                <a:cs typeface="Noto Sans"/>
              </a:defRPr>
            </a:pPr>
            <a:r>
              <a:rPr sz="1725" b="0">
                <a:solidFill>
                  <a:srgbClr val="214B3C"/>
                </a:solidFill>
                <a:latin typeface="Noto Sans"/>
                <a:ea typeface="Noto Sans"/>
                <a:cs typeface="Noto Sans"/>
              </a:rPr>
              <a:t>Record a human</a:t>
            </a:r>
          </a:p>
          <a:p xmlns:a="http://schemas.openxmlformats.org/drawingml/2006/main">
            <a:pPr>
              <a:defRPr sz="1725" b="0">
                <a:solidFill>
                  <a:srgbClr val="214B3C"/>
                </a:solidFill>
                <a:latin typeface="Noto Sans"/>
                <a:ea typeface="Noto Sans"/>
                <a:cs typeface="Noto Sans"/>
              </a:defRPr>
            </a:pPr>
            <a:r>
              <a:rPr sz="1725" b="0">
                <a:solidFill>
                  <a:srgbClr val="214B3C"/>
                </a:solidFill>
                <a:latin typeface="Noto Sans"/>
                <a:ea typeface="Noto Sans"/>
                <a:cs typeface="Noto Sans"/>
              </a:rPr>
              <a:t>decision and recheck.</a:t>
            </a:r>
          </a:p>
        </p:txBody>
      </p:sp>
      <p:sp>
        <p:nvSpPr>
          <p:cNvPr id="9" name="">
            <a:extLst xmlns:a="http://schemas.openxmlformats.org/drawingml/2006/main">
              <a:ext uri="{FF2B5EF4-FFF2-40B4-BE49-F238E27FC236}">
                <a16:creationId xmlns:a16="http://schemas.microsoft.com/office/drawing/2014/main" id="{A7FBFD2F-6900-48AF-BFE6-742D63407886}"/>
              </a:ext>
            </a:extLst>
          </p:cNvPr>
          <p:cNvSpPr>
            <a:spLocks xmlns:a="http://schemas.openxmlformats.org/drawingml/2006/main" noGrp="1"/>
          </p:cNvSpPr>
          <p:nvPr/>
        </p:nvSpPr>
        <p:spPr>
          <a:xfrm xmlns:a="http://schemas.openxmlformats.org/drawingml/2006/main">
            <a:off x="571500" y="62388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Synthetic demonstration scenario</a:t>
            </a:r>
          </a:p>
        </p:txBody>
      </p:sp>
    </p:spTree>
    <p:extLst>
      <p:ext uri="{BB962C8B-B14F-4D97-AF65-F5344CB8AC3E}">
        <p14:creationId xmlns:p14="http://schemas.microsoft.com/office/powerpoint/2010/main" val="758269476"/>
      </p:ext>
    </p:extLst>
  </p:cSld>
</p:sld>
</file>

<file path=ppt/slides/slide4.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DF75CC-E094-4F4E-B556-AD86ED259BA1}"/>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4B3C"/>
                </a:solidFill>
                <a:latin typeface="Noto Sans"/>
                <a:ea typeface="Noto Sans"/>
                <a:cs typeface="Noto Sans"/>
              </a:defRPr>
            </a:pPr>
            <a:r>
              <a:rPr sz="1575" b="1">
                <a:solidFill>
                  <a:srgbClr val="214B3C"/>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C58095B8-A609-48A0-A146-F584392D5523}"/>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AAC63F3E-B2E9-45F3-AD2E-DE2D6A902877}"/>
              </a:ext>
            </a:extLst>
          </p:cNvPr>
          <p:cNvSpPr>
            <a:spLocks xmlns:a="http://schemas.openxmlformats.org/drawingml/2006/main" noGrp="1"/>
          </p:cNvSpPr>
          <p:nvPr/>
        </p:nvSpPr>
        <p:spPr>
          <a:xfrm xmlns:a="http://schemas.openxmlformats.org/drawingml/2006/main">
            <a:off x="571500" y="876300"/>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214B3C"/>
                </a:solidFill>
                <a:latin typeface="Caladea"/>
                <a:ea typeface="Caladea"/>
                <a:cs typeface="Caladea"/>
              </a:defRPr>
            </a:pPr>
            <a:r>
              <a:rPr sz="4350" b="0">
                <a:solidFill>
                  <a:srgbClr val="214B3C"/>
                </a:solidFill>
                <a:latin typeface="Caladea"/>
                <a:ea typeface="Caladea"/>
                <a:cs typeface="Caladea"/>
              </a:rPr>
              <a:t>The next two hours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8b8249422c347af"/>
          <a:stretch xmlns:a="http://schemas.openxmlformats.org/drawingml/2006/main"/>
        </p:blipFill>
        <p:spPr>
          <a:xfrm xmlns:a="http://schemas.openxmlformats.org/drawingml/2006/main">
            <a:off x="1886822" y="1743075"/>
            <a:ext cx="5751356" cy="44100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2A2E2B3-AAB4-4E1B-9542-28F45829E5E4}"/>
              </a:ext>
            </a:extLst>
          </p:cNvPr>
          <p:cNvSpPr>
            <a:spLocks xmlns:a="http://schemas.openxmlformats.org/drawingml/2006/main" noGrp="1"/>
          </p:cNvSpPr>
          <p:nvPr/>
        </p:nvSpPr>
        <p:spPr>
          <a:xfrm xmlns:a="http://schemas.openxmlformats.org/drawingml/2006/main">
            <a:off x="9248775" y="1971675"/>
            <a:ext cx="25622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0">
                <a:solidFill>
                  <a:srgbClr val="214B3C"/>
                </a:solidFill>
                <a:latin typeface="Caladea"/>
                <a:ea typeface="Caladea"/>
                <a:cs typeface="Caladea"/>
              </a:defRPr>
            </a:pPr>
            <a:r>
              <a:rPr sz="7050" b="0">
                <a:solidFill>
                  <a:srgbClr val="214B3C"/>
                </a:solidFill>
                <a:latin typeface="Caladea"/>
                <a:ea typeface="Caladea"/>
                <a:cs typeface="Caladea"/>
              </a:rPr>
              <a:t>120</a:t>
            </a:r>
          </a:p>
        </p:txBody>
      </p:sp>
      <p:sp>
        <p:nvSpPr>
          <p:cNvPr id="6" name="">
            <a:extLst xmlns:a="http://schemas.openxmlformats.org/drawingml/2006/main">
              <a:ext uri="{FF2B5EF4-FFF2-40B4-BE49-F238E27FC236}">
                <a16:creationId xmlns:a16="http://schemas.microsoft.com/office/drawing/2014/main" id="{7CE89A4F-8DC3-41D3-A853-5DB36F7E55C7}"/>
              </a:ext>
            </a:extLst>
          </p:cNvPr>
          <p:cNvSpPr>
            <a:spLocks xmlns:a="http://schemas.openxmlformats.org/drawingml/2006/main" noGrp="1"/>
          </p:cNvSpPr>
          <p:nvPr/>
        </p:nvSpPr>
        <p:spPr>
          <a:xfrm xmlns:a="http://schemas.openxmlformats.org/drawingml/2006/main">
            <a:off x="9344025" y="3267075"/>
            <a:ext cx="23907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14B3C"/>
                </a:solidFill>
                <a:latin typeface="Noto Sans"/>
                <a:ea typeface="Noto Sans"/>
                <a:cs typeface="Noto Sans"/>
              </a:defRPr>
            </a:pPr>
            <a:r>
              <a:rPr sz="1650" b="0">
                <a:solidFill>
                  <a:srgbClr val="214B3C"/>
                </a:solidFill>
                <a:latin typeface="Noto Sans"/>
                <a:ea typeface="Noto Sans"/>
                <a:cs typeface="Noto Sans"/>
              </a:rPr>
              <a:t>minutes available</a:t>
            </a:r>
          </a:p>
        </p:txBody>
      </p:sp>
      <p:sp>
        <p:nvSpPr>
          <p:cNvPr id="7" name="">
            <a:extLst xmlns:a="http://schemas.openxmlformats.org/drawingml/2006/main">
              <a:ext uri="{FF2B5EF4-FFF2-40B4-BE49-F238E27FC236}">
                <a16:creationId xmlns:a16="http://schemas.microsoft.com/office/drawing/2014/main" id="{527D1E90-BAF5-48AC-98C8-26C5DC7BFD16}"/>
              </a:ext>
            </a:extLst>
          </p:cNvPr>
          <p:cNvSpPr>
            <a:spLocks xmlns:a="http://schemas.openxmlformats.org/drawingml/2006/main" noGrp="1"/>
          </p:cNvSpPr>
          <p:nvPr/>
        </p:nvSpPr>
        <p:spPr>
          <a:xfrm xmlns:a="http://schemas.openxmlformats.org/drawingml/2006/main">
            <a:off x="9353550" y="4095750"/>
            <a:ext cx="25241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14B3C"/>
                </a:solidFill>
                <a:latin typeface="Noto Sans"/>
                <a:ea typeface="Noto Sans"/>
                <a:cs typeface="Noto Sans"/>
              </a:defRPr>
            </a:pPr>
            <a:r>
              <a:rPr sz="1800" b="0">
                <a:solidFill>
                  <a:srgbClr val="214B3C"/>
                </a:solidFill>
                <a:latin typeface="Noto Sans"/>
                <a:ea typeface="Noto Sans"/>
                <a:cs typeface="Noto Sans"/>
              </a:rPr>
              <a:t>Three visits selected</a:t>
            </a:r>
          </a:p>
          <a:p xmlns:a="http://schemas.openxmlformats.org/drawingml/2006/main">
            <a:pPr>
              <a:defRPr sz="1800" b="0">
                <a:solidFill>
                  <a:srgbClr val="214B3C"/>
                </a:solidFill>
                <a:latin typeface="Noto Sans"/>
                <a:ea typeface="Noto Sans"/>
                <a:cs typeface="Noto Sans"/>
              </a:defRPr>
            </a:pPr>
            <a:r>
              <a:rPr sz="1800" b="0">
                <a:solidFill>
                  <a:srgbClr val="214B3C"/>
                </a:solidFill>
                <a:latin typeface="Noto Sans"/>
                <a:ea typeface="Noto Sans"/>
                <a:cs typeface="Noto Sans"/>
              </a:rPr>
              <a:t>Every choice explained</a:t>
            </a:r>
          </a:p>
          <a:p xmlns:a="http://schemas.openxmlformats.org/drawingml/2006/main">
            <a:pPr>
              <a:defRPr sz="1800" b="0">
                <a:solidFill>
                  <a:srgbClr val="214B3C"/>
                </a:solidFill>
                <a:latin typeface="Noto Sans"/>
                <a:ea typeface="Noto Sans"/>
                <a:cs typeface="Noto Sans"/>
              </a:defRPr>
            </a:pPr>
            <a:r>
              <a:rPr sz="1800" b="0">
                <a:solidFill>
                  <a:srgbClr val="214B3C"/>
                </a:solidFill>
                <a:latin typeface="Noto Sans"/>
                <a:ea typeface="Noto Sans"/>
                <a:cs typeface="Noto Sans"/>
              </a:rPr>
              <a:t>Other sites deferred</a:t>
            </a:r>
          </a:p>
        </p:txBody>
      </p:sp>
      <p:sp>
        <p:nvSpPr>
          <p:cNvPr id="8" name="">
            <a:extLst xmlns:a="http://schemas.openxmlformats.org/drawingml/2006/main">
              <a:ext uri="{FF2B5EF4-FFF2-40B4-BE49-F238E27FC236}">
                <a16:creationId xmlns:a16="http://schemas.microsoft.com/office/drawing/2014/main" id="{A5089BB7-39E8-40D7-9DFE-655A69001193}"/>
              </a:ext>
            </a:extLst>
          </p:cNvPr>
          <p:cNvSpPr>
            <a:spLocks xmlns:a="http://schemas.openxmlformats.org/drawingml/2006/main" noGrp="1"/>
          </p:cNvSpPr>
          <p:nvPr/>
        </p:nvSpPr>
        <p:spPr>
          <a:xfrm xmlns:a="http://schemas.openxmlformats.org/drawingml/2006/main">
            <a:off x="571500" y="62198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Synthetic scenario. Estimates support planning, not optimal walking routes.</a:t>
            </a:r>
          </a:p>
        </p:txBody>
      </p:sp>
    </p:spTree>
    <p:extLst>
      <p:ext uri="{BB962C8B-B14F-4D97-AF65-F5344CB8AC3E}">
        <p14:creationId xmlns:p14="http://schemas.microsoft.com/office/powerpoint/2010/main" val="1692628451"/>
      </p:ext>
    </p:extLst>
  </p:cSld>
</p:sld>
</file>

<file path=ppt/slides/slide5.xml><?xml version="1.0" encoding="utf-8"?>
<p:sld xmlns:p="http://schemas.openxmlformats.org/presentationml/2006/main">
  <p:cSld>
    <p:bg>
      <p:bgPr>
        <a:solidFill xmlns:a="http://schemas.openxmlformats.org/drawingml/2006/main">
          <a:srgbClr val="214B3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0429BA4-3BDD-416F-AF71-7503E8B86237}"/>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DECAD"/>
                </a:solidFill>
                <a:latin typeface="Noto Sans"/>
                <a:ea typeface="Noto Sans"/>
                <a:cs typeface="Noto Sans"/>
              </a:defRPr>
            </a:pPr>
            <a:r>
              <a:rPr sz="1575" b="1">
                <a:solidFill>
                  <a:srgbClr val="DDECAD"/>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DAF9ADB3-DF6D-4B38-9ED6-571948E8AC53}"/>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9BF"/>
                </a:solidFill>
                <a:latin typeface="Noto Sans"/>
                <a:ea typeface="Noto Sans"/>
                <a:cs typeface="Noto Sans"/>
              </a:defRPr>
            </a:pPr>
            <a:r>
              <a:rPr sz="1275" b="0">
                <a:solidFill>
                  <a:srgbClr val="B8C9BF"/>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26A334D5-F3C1-471F-8748-8B7DFDAEA05B}"/>
              </a:ext>
            </a:extLst>
          </p:cNvPr>
          <p:cNvSpPr>
            <a:spLocks xmlns:a="http://schemas.openxmlformats.org/drawingml/2006/main" noGrp="1"/>
          </p:cNvSpPr>
          <p:nvPr/>
        </p:nvSpPr>
        <p:spPr>
          <a:xfrm xmlns:a="http://schemas.openxmlformats.org/drawingml/2006/main">
            <a:off x="571500" y="8858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0">
                <a:solidFill>
                  <a:srgbClr val="F5F6F1"/>
                </a:solidFill>
                <a:latin typeface="Caladea"/>
                <a:ea typeface="Caladea"/>
                <a:cs typeface="Caladea"/>
              </a:defRPr>
            </a:pPr>
            <a:r>
              <a:rPr sz="4050" b="0">
                <a:solidFill>
                  <a:srgbClr val="F5F6F1"/>
                </a:solidFill>
                <a:latin typeface="Caladea"/>
                <a:ea typeface="Caladea"/>
                <a:cs typeface="Caladea"/>
              </a:rPr>
              <a:t>One Health, with honest uncertainty</a:t>
            </a:r>
          </a:p>
        </p:txBody>
      </p:sp>
      <p:sp>
        <p:nvSpPr>
          <p:cNvPr id="4" name="">
            <a:extLst xmlns:a="http://schemas.openxmlformats.org/drawingml/2006/main">
              <a:ext uri="{FF2B5EF4-FFF2-40B4-BE49-F238E27FC236}">
                <a16:creationId xmlns:a16="http://schemas.microsoft.com/office/drawing/2014/main" id="{76402663-9056-4CE9-BB9C-632781742261}"/>
              </a:ext>
            </a:extLst>
          </p:cNvPr>
          <p:cNvSpPr>
            <a:spLocks xmlns:a="http://schemas.openxmlformats.org/drawingml/2006/main" noGrp="1"/>
          </p:cNvSpPr>
          <p:nvPr/>
        </p:nvSpPr>
        <p:spPr>
          <a:xfrm xmlns:a="http://schemas.openxmlformats.org/drawingml/2006/main">
            <a:off x="609600" y="22860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DDECAD"/>
                </a:solidFill>
                <a:latin typeface="Noto Sans"/>
                <a:ea typeface="Noto Sans"/>
                <a:cs typeface="Noto Sans"/>
              </a:defRPr>
            </a:pPr>
            <a:r>
              <a:rPr sz="2625" b="0">
                <a:solidFill>
                  <a:srgbClr val="DDECAD"/>
                </a:solidFill>
                <a:latin typeface="Noto Sans"/>
                <a:ea typeface="Noto Sans"/>
                <a:cs typeface="Noto Sans"/>
              </a:rPr>
              <a:t>Habitat</a:t>
            </a:r>
          </a:p>
        </p:txBody>
      </p:sp>
      <p:sp>
        <p:nvSpPr>
          <p:cNvPr id="5" name="">
            <a:extLst xmlns:a="http://schemas.openxmlformats.org/drawingml/2006/main">
              <a:ext uri="{FF2B5EF4-FFF2-40B4-BE49-F238E27FC236}">
                <a16:creationId xmlns:a16="http://schemas.microsoft.com/office/drawing/2014/main" id="{AE167001-6A1D-4AF5-A5C2-D0774B8176BA}"/>
              </a:ext>
            </a:extLst>
          </p:cNvPr>
          <p:cNvSpPr>
            <a:spLocks xmlns:a="http://schemas.openxmlformats.org/drawingml/2006/main" noGrp="1"/>
          </p:cNvSpPr>
          <p:nvPr/>
        </p:nvSpPr>
        <p:spPr>
          <a:xfrm xmlns:a="http://schemas.openxmlformats.org/drawingml/2006/main">
            <a:off x="609600" y="2933700"/>
            <a:ext cx="314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What changed</a:t>
            </a:r>
          </a:p>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in the stream?</a:t>
            </a:r>
          </a:p>
        </p:txBody>
      </p:sp>
      <p:sp>
        <p:nvSpPr>
          <p:cNvPr id="6" name="">
            <a:extLst xmlns:a="http://schemas.openxmlformats.org/drawingml/2006/main">
              <a:ext uri="{FF2B5EF4-FFF2-40B4-BE49-F238E27FC236}">
                <a16:creationId xmlns:a16="http://schemas.microsoft.com/office/drawing/2014/main" id="{A8F8E08A-3A60-4C6F-B793-4115CF11569B}"/>
              </a:ext>
            </a:extLst>
          </p:cNvPr>
          <p:cNvSpPr>
            <a:spLocks xmlns:a="http://schemas.openxmlformats.org/drawingml/2006/main" noGrp="1"/>
          </p:cNvSpPr>
          <p:nvPr/>
        </p:nvSpPr>
        <p:spPr>
          <a:xfrm xmlns:a="http://schemas.openxmlformats.org/drawingml/2006/main">
            <a:off x="4524375" y="22860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DDECAD"/>
                </a:solidFill>
                <a:latin typeface="Noto Sans"/>
                <a:ea typeface="Noto Sans"/>
                <a:cs typeface="Noto Sans"/>
              </a:defRPr>
            </a:pPr>
            <a:r>
              <a:rPr sz="2625" b="0">
                <a:solidFill>
                  <a:srgbClr val="DDECAD"/>
                </a:solidFill>
                <a:latin typeface="Noto Sans"/>
                <a:ea typeface="Noto Sans"/>
                <a:cs typeface="Noto Sans"/>
              </a:rPr>
              <a:t>Animals</a:t>
            </a:r>
          </a:p>
        </p:txBody>
      </p:sp>
      <p:sp>
        <p:nvSpPr>
          <p:cNvPr id="7" name="">
            <a:extLst xmlns:a="http://schemas.openxmlformats.org/drawingml/2006/main">
              <a:ext uri="{FF2B5EF4-FFF2-40B4-BE49-F238E27FC236}">
                <a16:creationId xmlns:a16="http://schemas.microsoft.com/office/drawing/2014/main" id="{CFD78617-A97E-4313-9E95-261B87C15214}"/>
              </a:ext>
            </a:extLst>
          </p:cNvPr>
          <p:cNvSpPr>
            <a:spLocks xmlns:a="http://schemas.openxmlformats.org/drawingml/2006/main" noGrp="1"/>
          </p:cNvSpPr>
          <p:nvPr/>
        </p:nvSpPr>
        <p:spPr>
          <a:xfrm xmlns:a="http://schemas.openxmlformats.org/drawingml/2006/main">
            <a:off x="4524375" y="2933700"/>
            <a:ext cx="333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Where could wildlife</a:t>
            </a:r>
          </a:p>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or pets encounter it?</a:t>
            </a:r>
          </a:p>
        </p:txBody>
      </p:sp>
      <p:sp>
        <p:nvSpPr>
          <p:cNvPr id="8" name="">
            <a:extLst xmlns:a="http://schemas.openxmlformats.org/drawingml/2006/main">
              <a:ext uri="{FF2B5EF4-FFF2-40B4-BE49-F238E27FC236}">
                <a16:creationId xmlns:a16="http://schemas.microsoft.com/office/drawing/2014/main" id="{F5003A9B-21D5-4CE5-9459-124CDC79A201}"/>
              </a:ext>
            </a:extLst>
          </p:cNvPr>
          <p:cNvSpPr>
            <a:spLocks xmlns:a="http://schemas.openxmlformats.org/drawingml/2006/main" noGrp="1"/>
          </p:cNvSpPr>
          <p:nvPr/>
        </p:nvSpPr>
        <p:spPr>
          <a:xfrm xmlns:a="http://schemas.openxmlformats.org/drawingml/2006/main">
            <a:off x="8543925" y="22860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DDECAD"/>
                </a:solidFill>
                <a:latin typeface="Noto Sans"/>
                <a:ea typeface="Noto Sans"/>
                <a:cs typeface="Noto Sans"/>
              </a:defRPr>
            </a:pPr>
            <a:r>
              <a:rPr sz="2625" b="0">
                <a:solidFill>
                  <a:srgbClr val="DDECAD"/>
                </a:solidFill>
                <a:latin typeface="Noto Sans"/>
                <a:ea typeface="Noto Sans"/>
                <a:cs typeface="Noto Sans"/>
              </a:rPr>
              <a:t>People</a:t>
            </a:r>
          </a:p>
        </p:txBody>
      </p:sp>
      <p:sp>
        <p:nvSpPr>
          <p:cNvPr id="9" name="">
            <a:extLst xmlns:a="http://schemas.openxmlformats.org/drawingml/2006/main">
              <a:ext uri="{FF2B5EF4-FFF2-40B4-BE49-F238E27FC236}">
                <a16:creationId xmlns:a16="http://schemas.microsoft.com/office/drawing/2014/main" id="{FF695390-3122-42EC-9AA6-881AE5CFABCC}"/>
              </a:ext>
            </a:extLst>
          </p:cNvPr>
          <p:cNvSpPr>
            <a:spLocks xmlns:a="http://schemas.openxmlformats.org/drawingml/2006/main" noGrp="1"/>
          </p:cNvSpPr>
          <p:nvPr/>
        </p:nvSpPr>
        <p:spPr>
          <a:xfrm xmlns:a="http://schemas.openxmlformats.org/drawingml/2006/main">
            <a:off x="8543925" y="2933700"/>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How do people</a:t>
            </a:r>
          </a:p>
          <a:p xmlns:a="http://schemas.openxmlformats.org/drawingml/2006/main">
            <a:pPr>
              <a:defRPr sz="2400" b="0">
                <a:solidFill>
                  <a:srgbClr val="F5F6F1"/>
                </a:solidFill>
                <a:latin typeface="Noto Sans"/>
                <a:ea typeface="Noto Sans"/>
                <a:cs typeface="Noto Sans"/>
              </a:defRPr>
            </a:pPr>
            <a:r>
              <a:rPr sz="2400" b="0">
                <a:solidFill>
                  <a:srgbClr val="F5F6F1"/>
                </a:solidFill>
                <a:latin typeface="Noto Sans"/>
                <a:ea typeface="Noto Sans"/>
                <a:cs typeface="Noto Sans"/>
              </a:rPr>
              <a:t>use this place?</a:t>
            </a:r>
          </a:p>
        </p:txBody>
      </p:sp>
      <p:sp>
        <p:nvSpPr>
          <p:cNvPr id="10" name="">
            <a:extLst xmlns:a="http://schemas.openxmlformats.org/drawingml/2006/main">
              <a:ext uri="{FF2B5EF4-FFF2-40B4-BE49-F238E27FC236}">
                <a16:creationId xmlns:a16="http://schemas.microsoft.com/office/drawing/2014/main" id="{AB7EB383-6979-45F8-A9E9-3651765299B2}"/>
              </a:ext>
            </a:extLst>
          </p:cNvPr>
          <p:cNvSpPr>
            <a:spLocks xmlns:a="http://schemas.openxmlformats.org/drawingml/2006/main" noGrp="1"/>
          </p:cNvSpPr>
          <p:nvPr/>
        </p:nvSpPr>
        <p:spPr>
          <a:xfrm xmlns:a="http://schemas.openxmlformats.org/drawingml/2006/main">
            <a:off x="609600" y="4829175"/>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5F6F1"/>
                </a:solidFill>
                <a:latin typeface="Noto Sans"/>
                <a:ea typeface="Noto Sans"/>
                <a:cs typeface="Noto Sans"/>
              </a:defRPr>
            </a:pPr>
            <a:r>
              <a:rPr sz="2100" b="0">
                <a:solidFill>
                  <a:srgbClr val="F5F6F1"/>
                </a:solidFill>
                <a:latin typeface="Noto Sans"/>
                <a:ea typeface="Noto Sans"/>
                <a:cs typeface="Noto Sans"/>
              </a:rPr>
              <a:t>Visual signs justify investigation. Testing and qualified judgment establish what they mean.</a:t>
            </a:r>
          </a:p>
        </p:txBody>
      </p:sp>
      <p:sp>
        <p:nvSpPr>
          <p:cNvPr id="11" name="">
            <a:extLst xmlns:a="http://schemas.openxmlformats.org/drawingml/2006/main">
              <a:ext uri="{FF2B5EF4-FFF2-40B4-BE49-F238E27FC236}">
                <a16:creationId xmlns:a16="http://schemas.microsoft.com/office/drawing/2014/main" id="{7384E0B6-A00B-40D3-871B-EB54319F851B}"/>
              </a:ext>
            </a:extLst>
          </p:cNvPr>
          <p:cNvSpPr>
            <a:spLocks xmlns:a="http://schemas.openxmlformats.org/drawingml/2006/main" noGrp="1"/>
          </p:cNvSpPr>
          <p:nvPr/>
        </p:nvSpPr>
        <p:spPr>
          <a:xfrm xmlns:a="http://schemas.openxmlformats.org/drawingml/2006/main">
            <a:off x="609600" y="598170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8C9BF"/>
                </a:solidFill>
                <a:latin typeface="Noto Sans"/>
                <a:ea typeface="Noto Sans"/>
                <a:cs typeface="Noto Sans"/>
              </a:defRPr>
            </a:pPr>
            <a:r>
              <a:rPr sz="1575" b="0">
                <a:solidFill>
                  <a:srgbClr val="B8C9BF"/>
                </a:solidFill>
                <a:latin typeface="Noto Sans"/>
                <a:ea typeface="Noto Sans"/>
                <a:cs typeface="Noto Sans"/>
              </a:rPr>
              <a:t>Public-bank checks only. Follow local advice and access restrictions.</a:t>
            </a:r>
          </a:p>
        </p:txBody>
      </p:sp>
      <p:sp>
        <p:nvSpPr>
          <p:cNvPr id="12" name="">
            <a:extLst xmlns:a="http://schemas.openxmlformats.org/drawingml/2006/main">
              <a:ext uri="{FF2B5EF4-FFF2-40B4-BE49-F238E27FC236}">
                <a16:creationId xmlns:a16="http://schemas.microsoft.com/office/drawing/2014/main" id="{4F304DD9-18C2-4624-A028-265FEF76B184}"/>
              </a:ext>
            </a:extLst>
          </p:cNvPr>
          <p:cNvSpPr>
            <a:spLocks xmlns:a="http://schemas.openxmlformats.org/drawingml/2006/main" noGrp="1"/>
          </p:cNvSpPr>
          <p:nvPr/>
        </p:nvSpPr>
        <p:spPr>
          <a:xfrm xmlns:a="http://schemas.openxmlformats.org/drawingml/2006/main">
            <a:off x="6096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9BF"/>
                </a:solidFill>
                <a:latin typeface="Noto Sans"/>
                <a:ea typeface="Noto Sans"/>
                <a:cs typeface="Noto Sans"/>
              </a:defRPr>
            </a:pPr>
            <a:r>
              <a:rPr sz="1050" b="0">
                <a:solidFill>
                  <a:srgbClr val="B8C9BF"/>
                </a:solidFill>
                <a:latin typeface="Noto Sans"/>
                <a:ea typeface="Noto Sans"/>
                <a:cs typeface="Noto Sans"/>
              </a:rPr>
              <a:t>Source: CDC · How to Recognize a Harmful Algal Bloom</a:t>
            </a:r>
          </a:p>
        </p:txBody>
      </p:sp>
    </p:spTree>
    <p:extLst>
      <p:ext uri="{BB962C8B-B14F-4D97-AF65-F5344CB8AC3E}">
        <p14:creationId xmlns:p14="http://schemas.microsoft.com/office/powerpoint/2010/main" val="1999602557"/>
      </p:ext>
    </p:extLst>
  </p:cSld>
</p:sld>
</file>

<file path=ppt/slides/slide6.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EAE3AA-7AA3-4D10-9A4F-62A7F19DEA9F}"/>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4B3C"/>
                </a:solidFill>
                <a:latin typeface="Noto Sans"/>
                <a:ea typeface="Noto Sans"/>
                <a:cs typeface="Noto Sans"/>
              </a:defRPr>
            </a:pPr>
            <a:r>
              <a:rPr sz="1575" b="1">
                <a:solidFill>
                  <a:srgbClr val="214B3C"/>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943DEC5E-154D-4876-B248-12B81BF4F64E}"/>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7955F26B-B178-49F3-BD6C-4661A12E71A5}"/>
              </a:ext>
            </a:extLst>
          </p:cNvPr>
          <p:cNvSpPr>
            <a:spLocks xmlns:a="http://schemas.openxmlformats.org/drawingml/2006/main" noGrp="1"/>
          </p:cNvSpPr>
          <p:nvPr/>
        </p:nvSpPr>
        <p:spPr>
          <a:xfrm xmlns:a="http://schemas.openxmlformats.org/drawingml/2006/main">
            <a:off x="571500" y="904875"/>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0">
                <a:solidFill>
                  <a:srgbClr val="214B3C"/>
                </a:solidFill>
                <a:latin typeface="Caladea"/>
                <a:ea typeface="Caladea"/>
                <a:cs typeface="Caladea"/>
              </a:defRPr>
            </a:pPr>
            <a:r>
              <a:rPr sz="4200" b="0">
                <a:solidFill>
                  <a:srgbClr val="214B3C"/>
                </a:solidFill>
                <a:latin typeface="Caladea"/>
                <a:ea typeface="Caladea"/>
                <a:cs typeface="Caladea"/>
              </a:rPr>
              <a:t>A working, inspectable system</a:t>
            </a:r>
          </a:p>
        </p:txBody>
      </p:sp>
      <p:sp>
        <p:nvSpPr>
          <p:cNvPr id="4" name="">
            <a:extLst xmlns:a="http://schemas.openxmlformats.org/drawingml/2006/main">
              <a:ext uri="{FF2B5EF4-FFF2-40B4-BE49-F238E27FC236}">
                <a16:creationId xmlns:a16="http://schemas.microsoft.com/office/drawing/2014/main" id="{58FBF103-DD9C-4E4C-8226-A7EF13AE4BD6}"/>
              </a:ext>
            </a:extLst>
          </p:cNvPr>
          <p:cNvSpPr>
            <a:spLocks xmlns:a="http://schemas.openxmlformats.org/drawingml/2006/main" noGrp="1"/>
          </p:cNvSpPr>
          <p:nvPr/>
        </p:nvSpPr>
        <p:spPr>
          <a:xfrm xmlns:a="http://schemas.openxmlformats.org/drawingml/2006/main">
            <a:off x="609600"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14B3C"/>
                </a:solidFill>
                <a:latin typeface="Noto Sans"/>
                <a:ea typeface="Noto Sans"/>
                <a:cs typeface="Noto Sans"/>
              </a:defRPr>
            </a:pPr>
            <a:r>
              <a:rPr sz="2025" b="1">
                <a:solidFill>
                  <a:srgbClr val="214B3C"/>
                </a:solidFill>
                <a:latin typeface="Noto Sans"/>
                <a:ea typeface="Noto Sans"/>
                <a:cs typeface="Noto Sans"/>
              </a:rPr>
              <a:t>Access</a:t>
            </a:r>
          </a:p>
        </p:txBody>
      </p:sp>
      <p:sp>
        <p:nvSpPr>
          <p:cNvPr id="5" name="">
            <a:extLst xmlns:a="http://schemas.openxmlformats.org/drawingml/2006/main">
              <a:ext uri="{FF2B5EF4-FFF2-40B4-BE49-F238E27FC236}">
                <a16:creationId xmlns:a16="http://schemas.microsoft.com/office/drawing/2014/main" id="{32129952-DAAF-4077-B027-CEA24901FCE9}"/>
              </a:ext>
            </a:extLst>
          </p:cNvPr>
          <p:cNvSpPr>
            <a:spLocks xmlns:a="http://schemas.openxmlformats.org/drawingml/2006/main" noGrp="1"/>
          </p:cNvSpPr>
          <p:nvPr/>
        </p:nvSpPr>
        <p:spPr>
          <a:xfrm xmlns:a="http://schemas.openxmlformats.org/drawingml/2006/main">
            <a:off x="3228975" y="2238375"/>
            <a:ext cx="800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4B3C"/>
                </a:solidFill>
                <a:latin typeface="Noto Sans"/>
                <a:ea typeface="Noto Sans"/>
                <a:cs typeface="Noto Sans"/>
              </a:defRPr>
            </a:pPr>
            <a:r>
              <a:rPr sz="1950" b="0">
                <a:solidFill>
                  <a:srgbClr val="214B3C"/>
                </a:solidFill>
                <a:latin typeface="Noto Sans"/>
                <a:ea typeface="Noto Sans"/>
                <a:cs typeface="Noto Sans"/>
              </a:rPr>
              <a:t>Authenticated workspaces and coordinator / volunteer roles</a:t>
            </a:r>
          </a:p>
        </p:txBody>
      </p:sp>
      <p:sp>
        <p:nvSpPr>
          <p:cNvPr id="6" name="">
            <a:extLst xmlns:a="http://schemas.openxmlformats.org/drawingml/2006/main">
              <a:ext uri="{FF2B5EF4-FFF2-40B4-BE49-F238E27FC236}">
                <a16:creationId xmlns:a16="http://schemas.microsoft.com/office/drawing/2014/main" id="{FE6CB743-3797-4E7A-8D83-9692C3C294D6}"/>
              </a:ext>
            </a:extLst>
          </p:cNvPr>
          <p:cNvSpPr>
            <a:spLocks xmlns:a="http://schemas.openxmlformats.org/drawingml/2006/main" noGrp="1"/>
          </p:cNvSpPr>
          <p:nvPr/>
        </p:nvSpPr>
        <p:spPr>
          <a:xfrm xmlns:a="http://schemas.openxmlformats.org/drawingml/2006/main">
            <a:off x="609600" y="3048000"/>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14B3C"/>
                </a:solidFill>
                <a:latin typeface="Noto Sans"/>
                <a:ea typeface="Noto Sans"/>
                <a:cs typeface="Noto Sans"/>
              </a:defRPr>
            </a:pPr>
            <a:r>
              <a:rPr sz="2025" b="1">
                <a:solidFill>
                  <a:srgbClr val="214B3C"/>
                </a:solidFill>
                <a:latin typeface="Noto Sans"/>
                <a:ea typeface="Noto Sans"/>
                <a:cs typeface="Noto Sans"/>
              </a:rPr>
              <a:t>Evidence</a:t>
            </a:r>
          </a:p>
        </p:txBody>
      </p:sp>
      <p:sp>
        <p:nvSpPr>
          <p:cNvPr id="7" name="">
            <a:extLst xmlns:a="http://schemas.openxmlformats.org/drawingml/2006/main">
              <a:ext uri="{FF2B5EF4-FFF2-40B4-BE49-F238E27FC236}">
                <a16:creationId xmlns:a16="http://schemas.microsoft.com/office/drawing/2014/main" id="{C388F613-CFD2-4530-B2D7-5CF7A91D358F}"/>
              </a:ext>
            </a:extLst>
          </p:cNvPr>
          <p:cNvSpPr>
            <a:spLocks xmlns:a="http://schemas.openxmlformats.org/drawingml/2006/main" noGrp="1"/>
          </p:cNvSpPr>
          <p:nvPr/>
        </p:nvSpPr>
        <p:spPr>
          <a:xfrm xmlns:a="http://schemas.openxmlformats.org/drawingml/2006/main">
            <a:off x="3228975" y="3067050"/>
            <a:ext cx="800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4B3C"/>
                </a:solidFill>
                <a:latin typeface="Noto Sans"/>
                <a:ea typeface="Noto Sans"/>
                <a:cs typeface="Noto Sans"/>
              </a:defRPr>
            </a:pPr>
            <a:r>
              <a:rPr sz="1950" b="0">
                <a:solidFill>
                  <a:srgbClr val="214B3C"/>
                </a:solidFill>
                <a:latin typeface="Noto Sans"/>
                <a:ea typeface="Noto Sans"/>
                <a:cs typeface="Noto Sans"/>
              </a:rPr>
              <a:t>Human review, historical decisions and a recheck gate</a:t>
            </a:r>
          </a:p>
        </p:txBody>
      </p:sp>
      <p:sp>
        <p:nvSpPr>
          <p:cNvPr id="8" name="">
            <a:extLst xmlns:a="http://schemas.openxmlformats.org/drawingml/2006/main">
              <a:ext uri="{FF2B5EF4-FFF2-40B4-BE49-F238E27FC236}">
                <a16:creationId xmlns:a16="http://schemas.microsoft.com/office/drawing/2014/main" id="{7F96FEA6-9DD4-4FC8-A511-6FF588DDC7D1}"/>
              </a:ext>
            </a:extLst>
          </p:cNvPr>
          <p:cNvSpPr>
            <a:spLocks xmlns:a="http://schemas.openxmlformats.org/drawingml/2006/main" noGrp="1"/>
          </p:cNvSpPr>
          <p:nvPr/>
        </p:nvSpPr>
        <p:spPr>
          <a:xfrm xmlns:a="http://schemas.openxmlformats.org/drawingml/2006/main">
            <a:off x="609600" y="387667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14B3C"/>
                </a:solidFill>
                <a:latin typeface="Noto Sans"/>
                <a:ea typeface="Noto Sans"/>
                <a:cs typeface="Noto Sans"/>
              </a:defRPr>
            </a:pPr>
            <a:r>
              <a:rPr sz="2025" b="1">
                <a:solidFill>
                  <a:srgbClr val="214B3C"/>
                </a:solidFill>
                <a:latin typeface="Noto Sans"/>
                <a:ea typeface="Noto Sans"/>
                <a:cs typeface="Noto Sans"/>
              </a:rPr>
              <a:t>Deployment</a:t>
            </a:r>
          </a:p>
        </p:txBody>
      </p:sp>
      <p:sp>
        <p:nvSpPr>
          <p:cNvPr id="9" name="">
            <a:extLst xmlns:a="http://schemas.openxmlformats.org/drawingml/2006/main">
              <a:ext uri="{FF2B5EF4-FFF2-40B4-BE49-F238E27FC236}">
                <a16:creationId xmlns:a16="http://schemas.microsoft.com/office/drawing/2014/main" id="{A038690A-44F0-44D7-89D3-7E30A9CA885F}"/>
              </a:ext>
            </a:extLst>
          </p:cNvPr>
          <p:cNvSpPr>
            <a:spLocks xmlns:a="http://schemas.openxmlformats.org/drawingml/2006/main" noGrp="1"/>
          </p:cNvSpPr>
          <p:nvPr/>
        </p:nvSpPr>
        <p:spPr>
          <a:xfrm xmlns:a="http://schemas.openxmlformats.org/drawingml/2006/main">
            <a:off x="3228975" y="3895725"/>
            <a:ext cx="800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4B3C"/>
                </a:solidFill>
                <a:latin typeface="Noto Sans"/>
                <a:ea typeface="Noto Sans"/>
                <a:cs typeface="Noto Sans"/>
              </a:defRPr>
            </a:pPr>
            <a:r>
              <a:rPr sz="1950" b="0">
                <a:solidFill>
                  <a:srgbClr val="214B3C"/>
                </a:solidFill>
                <a:latin typeface="Noto Sans"/>
                <a:ea typeface="Noto Sans"/>
                <a:cs typeface="Noto Sans"/>
              </a:rPr>
              <a:t>Cloud Run API with PostgreSQL on Cloud SQL</a:t>
            </a:r>
          </a:p>
        </p:txBody>
      </p:sp>
      <p:sp>
        <p:nvSpPr>
          <p:cNvPr id="10" name="">
            <a:extLst xmlns:a="http://schemas.openxmlformats.org/drawingml/2006/main">
              <a:ext uri="{FF2B5EF4-FFF2-40B4-BE49-F238E27FC236}">
                <a16:creationId xmlns:a16="http://schemas.microsoft.com/office/drawing/2014/main" id="{97F5FC6C-4C9A-48F3-9447-093301311250}"/>
              </a:ext>
            </a:extLst>
          </p:cNvPr>
          <p:cNvSpPr>
            <a:spLocks xmlns:a="http://schemas.openxmlformats.org/drawingml/2006/main" noGrp="1"/>
          </p:cNvSpPr>
          <p:nvPr/>
        </p:nvSpPr>
        <p:spPr>
          <a:xfrm xmlns:a="http://schemas.openxmlformats.org/drawingml/2006/main">
            <a:off x="609600" y="4705350"/>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14B3C"/>
                </a:solidFill>
                <a:latin typeface="Noto Sans"/>
                <a:ea typeface="Noto Sans"/>
                <a:cs typeface="Noto Sans"/>
              </a:defRPr>
            </a:pPr>
            <a:r>
              <a:rPr sz="2025" b="1">
                <a:solidFill>
                  <a:srgbClr val="214B3C"/>
                </a:solidFill>
                <a:latin typeface="Noto Sans"/>
                <a:ea typeface="Noto Sans"/>
                <a:cs typeface="Noto Sans"/>
              </a:rPr>
              <a:t>Exchange</a:t>
            </a:r>
          </a:p>
        </p:txBody>
      </p:sp>
      <p:sp>
        <p:nvSpPr>
          <p:cNvPr id="11" name="">
            <a:extLst xmlns:a="http://schemas.openxmlformats.org/drawingml/2006/main">
              <a:ext uri="{FF2B5EF4-FFF2-40B4-BE49-F238E27FC236}">
                <a16:creationId xmlns:a16="http://schemas.microsoft.com/office/drawing/2014/main" id="{0D408FC9-0DD8-4A3C-B183-EA6A1BC5009F}"/>
              </a:ext>
            </a:extLst>
          </p:cNvPr>
          <p:cNvSpPr>
            <a:spLocks xmlns:a="http://schemas.openxmlformats.org/drawingml/2006/main" noGrp="1"/>
          </p:cNvSpPr>
          <p:nvPr/>
        </p:nvSpPr>
        <p:spPr>
          <a:xfrm xmlns:a="http://schemas.openxmlformats.org/drawingml/2006/main">
            <a:off x="3228975" y="4724400"/>
            <a:ext cx="800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4B3C"/>
                </a:solidFill>
                <a:latin typeface="Noto Sans"/>
                <a:ea typeface="Noto Sans"/>
                <a:cs typeface="Noto Sans"/>
              </a:defRPr>
            </a:pPr>
            <a:r>
              <a:rPr sz="1950" b="0">
                <a:solidFill>
                  <a:srgbClr val="214B3C"/>
                </a:solidFill>
                <a:latin typeface="Noto Sans"/>
                <a:ea typeface="Noto Sans"/>
                <a:cs typeface="Noto Sans"/>
              </a:rPr>
              <a:t>OAH directory, imports and environmental exports</a:t>
            </a:r>
          </a:p>
        </p:txBody>
      </p:sp>
      <p:sp>
        <p:nvSpPr>
          <p:cNvPr id="12" name="">
            <a:extLst xmlns:a="http://schemas.openxmlformats.org/drawingml/2006/main">
              <a:ext uri="{FF2B5EF4-FFF2-40B4-BE49-F238E27FC236}">
                <a16:creationId xmlns:a16="http://schemas.microsoft.com/office/drawing/2014/main" id="{F578AF1E-99FA-46A9-BEFD-EC2CE62A1FF9}"/>
              </a:ext>
            </a:extLst>
          </p:cNvPr>
          <p:cNvSpPr>
            <a:spLocks xmlns:a="http://schemas.openxmlformats.org/drawingml/2006/main" noGrp="1"/>
          </p:cNvSpPr>
          <p:nvPr/>
        </p:nvSpPr>
        <p:spPr>
          <a:xfrm xmlns:a="http://schemas.openxmlformats.org/drawingml/2006/main">
            <a:off x="609600" y="591502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67369"/>
                </a:solidFill>
                <a:latin typeface="Noto Sans"/>
                <a:ea typeface="Noto Sans"/>
                <a:cs typeface="Noto Sans"/>
              </a:defRPr>
            </a:pPr>
            <a:r>
              <a:rPr sz="1800" b="0">
                <a:solidFill>
                  <a:srgbClr val="667369"/>
                </a:solidFill>
                <a:latin typeface="Noto Sans"/>
                <a:ea typeface="Noto Sans"/>
                <a:cs typeface="Noto Sans"/>
              </a:rPr>
              <a:t>Try rill-streams.web.app · No trained model or paid AI key.</a:t>
            </a:r>
          </a:p>
        </p:txBody>
      </p:sp>
    </p:spTree>
    <p:extLst>
      <p:ext uri="{BB962C8B-B14F-4D97-AF65-F5344CB8AC3E}">
        <p14:creationId xmlns:p14="http://schemas.microsoft.com/office/powerpoint/2010/main" val="317590274"/>
      </p:ext>
    </p:extLst>
  </p:cSld>
</p:sld>
</file>

<file path=ppt/slides/slide7.xml><?xml version="1.0" encoding="utf-8"?>
<p:sld xmlns:p="http://schemas.openxmlformats.org/presentationml/2006/main">
  <p:cSld>
    <p:bg>
      <p:bgPr>
        <a:solidFill xmlns:a="http://schemas.openxmlformats.org/drawingml/2006/main">
          <a:srgbClr val="F5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DD39F4-324C-4EB6-B892-FD3DC2CC1B76}"/>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4B3C"/>
                </a:solidFill>
                <a:latin typeface="Noto Sans"/>
                <a:ea typeface="Noto Sans"/>
                <a:cs typeface="Noto Sans"/>
              </a:defRPr>
            </a:pPr>
            <a:r>
              <a:rPr sz="1575" b="1">
                <a:solidFill>
                  <a:srgbClr val="214B3C"/>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B329CD99-41A1-4A6E-8232-3426CDC3F12A}"/>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D9130FBC-42FE-4A20-B224-67493BEF2149}"/>
              </a:ext>
            </a:extLst>
          </p:cNvPr>
          <p:cNvSpPr>
            <a:spLocks xmlns:a="http://schemas.openxmlformats.org/drawingml/2006/main" noGrp="1"/>
          </p:cNvSpPr>
          <p:nvPr/>
        </p:nvSpPr>
        <p:spPr>
          <a:xfrm xmlns:a="http://schemas.openxmlformats.org/drawingml/2006/main">
            <a:off x="571500" y="914400"/>
            <a:ext cx="11001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0">
                <a:solidFill>
                  <a:srgbClr val="214B3C"/>
                </a:solidFill>
                <a:latin typeface="Caladea"/>
                <a:ea typeface="Caladea"/>
                <a:cs typeface="Caladea"/>
              </a:defRPr>
            </a:pPr>
            <a:r>
              <a:rPr sz="3975" b="0">
                <a:solidFill>
                  <a:srgbClr val="214B3C"/>
                </a:solidFill>
                <a:latin typeface="Caladea"/>
                <a:ea typeface="Caladea"/>
                <a:cs typeface="Caladea"/>
              </a:rPr>
              <a:t>The coordinator is the first customer</a:t>
            </a:r>
          </a:p>
        </p:txBody>
      </p:sp>
      <p:sp>
        <p:nvSpPr>
          <p:cNvPr id="4" name="">
            <a:extLst xmlns:a="http://schemas.openxmlformats.org/drawingml/2006/main">
              <a:ext uri="{FF2B5EF4-FFF2-40B4-BE49-F238E27FC236}">
                <a16:creationId xmlns:a16="http://schemas.microsoft.com/office/drawing/2014/main" id="{0F9527C6-A6DF-44C7-BAEA-38C16DBC3836}"/>
              </a:ext>
            </a:extLst>
          </p:cNvPr>
          <p:cNvSpPr>
            <a:spLocks xmlns:a="http://schemas.openxmlformats.org/drawingml/2006/main" noGrp="1"/>
          </p:cNvSpPr>
          <p:nvPr/>
        </p:nvSpPr>
        <p:spPr>
          <a:xfrm xmlns:a="http://schemas.openxmlformats.org/drawingml/2006/main">
            <a:off x="609600" y="2133600"/>
            <a:ext cx="5095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0">
                <a:solidFill>
                  <a:srgbClr val="214B3C"/>
                </a:solidFill>
                <a:latin typeface="Caladea"/>
                <a:ea typeface="Caladea"/>
                <a:cs typeface="Caladea"/>
              </a:defRPr>
            </a:pPr>
            <a:r>
              <a:rPr sz="6600" b="0">
                <a:solidFill>
                  <a:srgbClr val="214B3C"/>
                </a:solidFill>
                <a:latin typeface="Caladea"/>
                <a:ea typeface="Caladea"/>
                <a:cs typeface="Caladea"/>
              </a:rPr>
              <a:t>€149</a:t>
            </a:r>
          </a:p>
        </p:txBody>
      </p:sp>
      <p:sp>
        <p:nvSpPr>
          <p:cNvPr id="5" name="">
            <a:extLst xmlns:a="http://schemas.openxmlformats.org/drawingml/2006/main">
              <a:ext uri="{FF2B5EF4-FFF2-40B4-BE49-F238E27FC236}">
                <a16:creationId xmlns:a16="http://schemas.microsoft.com/office/drawing/2014/main" id="{D53CBEBB-5C9D-4ED6-8F17-EC610B352DBD}"/>
              </a:ext>
            </a:extLst>
          </p:cNvPr>
          <p:cNvSpPr>
            <a:spLocks xmlns:a="http://schemas.openxmlformats.org/drawingml/2006/main" noGrp="1"/>
          </p:cNvSpPr>
          <p:nvPr/>
        </p:nvSpPr>
        <p:spPr>
          <a:xfrm xmlns:a="http://schemas.openxmlformats.org/drawingml/2006/main">
            <a:off x="628650" y="33337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14B3C"/>
                </a:solidFill>
                <a:latin typeface="Noto Sans"/>
                <a:ea typeface="Noto Sans"/>
                <a:cs typeface="Noto Sans"/>
              </a:defRPr>
            </a:pPr>
            <a:r>
              <a:rPr sz="1950" b="0">
                <a:solidFill>
                  <a:srgbClr val="214B3C"/>
                </a:solidFill>
                <a:latin typeface="Noto Sans"/>
                <a:ea typeface="Noto Sans"/>
                <a:cs typeface="Noto Sans"/>
              </a:rPr>
              <a:t>per programme / month</a:t>
            </a:r>
          </a:p>
        </p:txBody>
      </p:sp>
      <p:sp>
        <p:nvSpPr>
          <p:cNvPr id="6" name="">
            <a:extLst xmlns:a="http://schemas.openxmlformats.org/drawingml/2006/main">
              <a:ext uri="{FF2B5EF4-FFF2-40B4-BE49-F238E27FC236}">
                <a16:creationId xmlns:a16="http://schemas.microsoft.com/office/drawing/2014/main" id="{38A09F62-9F98-4477-9EBF-7694C2A6B643}"/>
              </a:ext>
            </a:extLst>
          </p:cNvPr>
          <p:cNvSpPr>
            <a:spLocks xmlns:a="http://schemas.openxmlformats.org/drawingml/2006/main" noGrp="1"/>
          </p:cNvSpPr>
          <p:nvPr/>
        </p:nvSpPr>
        <p:spPr>
          <a:xfrm xmlns:a="http://schemas.openxmlformats.org/drawingml/2006/main">
            <a:off x="628650" y="39147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14B3C"/>
                </a:solidFill>
                <a:latin typeface="Noto Sans"/>
                <a:ea typeface="Noto Sans"/>
                <a:cs typeface="Noto Sans"/>
              </a:defRPr>
            </a:pPr>
            <a:r>
              <a:rPr sz="1800" b="0">
                <a:solidFill>
                  <a:srgbClr val="214B3C"/>
                </a:solidFill>
                <a:latin typeface="Noto Sans"/>
                <a:ea typeface="Noto Sans"/>
                <a:cs typeface="Noto Sans"/>
              </a:rPr>
              <a:t>Proposed managed subscription</a:t>
            </a:r>
          </a:p>
          <a:p xmlns:a="http://schemas.openxmlformats.org/drawingml/2006/main">
            <a:pPr>
              <a:defRPr sz="1800" b="0">
                <a:solidFill>
                  <a:srgbClr val="214B3C"/>
                </a:solidFill>
                <a:latin typeface="Noto Sans"/>
                <a:ea typeface="Noto Sans"/>
                <a:cs typeface="Noto Sans"/>
              </a:defRPr>
            </a:pPr>
            <a:r>
              <a:rPr sz="1800" b="0">
                <a:solidFill>
                  <a:srgbClr val="214B3C"/>
                </a:solidFill>
                <a:latin typeface="Noto Sans"/>
                <a:ea typeface="Noto Sans"/>
                <a:cs typeface="Noto Sans"/>
              </a:rPr>
              <a:t>Volunteers contribute free</a:t>
            </a:r>
          </a:p>
        </p:txBody>
      </p:sp>
      <p:sp>
        <p:nvSpPr>
          <p:cNvPr id="7" name="">
            <a:extLst xmlns:a="http://schemas.openxmlformats.org/drawingml/2006/main">
              <a:ext uri="{FF2B5EF4-FFF2-40B4-BE49-F238E27FC236}">
                <a16:creationId xmlns:a16="http://schemas.microsoft.com/office/drawing/2014/main" id="{53C80C75-2B27-45E1-BF1C-17B563855021}"/>
              </a:ext>
            </a:extLst>
          </p:cNvPr>
          <p:cNvSpPr>
            <a:spLocks xmlns:a="http://schemas.openxmlformats.org/drawingml/2006/main" noGrp="1"/>
          </p:cNvSpPr>
          <p:nvPr/>
        </p:nvSpPr>
        <p:spPr>
          <a:xfrm xmlns:a="http://schemas.openxmlformats.org/drawingml/2006/main">
            <a:off x="628650" y="48291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7369"/>
                </a:solidFill>
                <a:latin typeface="Noto Sans"/>
                <a:ea typeface="Noto Sans"/>
                <a:cs typeface="Noto Sans"/>
              </a:defRPr>
            </a:pPr>
            <a:r>
              <a:rPr sz="1575" b="0">
                <a:solidFill>
                  <a:srgbClr val="667369"/>
                </a:solidFill>
                <a:latin typeface="Noto Sans"/>
                <a:ea typeface="Noto Sans"/>
                <a:cs typeface="Noto Sans"/>
              </a:rPr>
              <a:t>Illustrative €50 delivery cost leaves</a:t>
            </a:r>
          </a:p>
          <a:p xmlns:a="http://schemas.openxmlformats.org/drawingml/2006/main">
            <a:pPr>
              <a:defRPr sz="1575" b="0">
                <a:solidFill>
                  <a:srgbClr val="667369"/>
                </a:solidFill>
                <a:latin typeface="Noto Sans"/>
                <a:ea typeface="Noto Sans"/>
                <a:cs typeface="Noto Sans"/>
              </a:defRPr>
            </a:pPr>
            <a:r>
              <a:rPr sz="1575" b="0">
                <a:solidFill>
                  <a:srgbClr val="667369"/>
                </a:solidFill>
                <a:latin typeface="Noto Sans"/>
                <a:ea typeface="Noto Sans"/>
                <a:cs typeface="Noto Sans"/>
              </a:rPr>
              <a:t>€99 before fixed overhead.</a:t>
            </a:r>
          </a:p>
        </p:txBody>
      </p:sp>
      <p:sp>
        <p:nvSpPr>
          <p:cNvPr id="8" name="">
            <a:extLst xmlns:a="http://schemas.openxmlformats.org/drawingml/2006/main">
              <a:ext uri="{FF2B5EF4-FFF2-40B4-BE49-F238E27FC236}">
                <a16:creationId xmlns:a16="http://schemas.microsoft.com/office/drawing/2014/main" id="{6654B0EA-2B8C-4C21-96D6-C43319B09CF7}"/>
              </a:ext>
            </a:extLst>
          </p:cNvPr>
          <p:cNvSpPr>
            <a:spLocks xmlns:a="http://schemas.openxmlformats.org/drawingml/2006/main" noGrp="1"/>
          </p:cNvSpPr>
          <p:nvPr/>
        </p:nvSpPr>
        <p:spPr>
          <a:xfrm xmlns:a="http://schemas.openxmlformats.org/drawingml/2006/main">
            <a:off x="6762750" y="2238375"/>
            <a:ext cx="4619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14B3C"/>
                </a:solidFill>
                <a:latin typeface="Noto Sans"/>
                <a:ea typeface="Noto Sans"/>
                <a:cs typeface="Noto Sans"/>
              </a:defRPr>
            </a:pPr>
            <a:r>
              <a:rPr sz="2100" b="1">
                <a:solidFill>
                  <a:srgbClr val="214B3C"/>
                </a:solidFill>
                <a:latin typeface="Noto Sans"/>
                <a:ea typeface="Noto Sans"/>
                <a:cs typeface="Noto Sans"/>
              </a:rPr>
              <a:t>A value hypothesis</a:t>
            </a:r>
          </a:p>
        </p:txBody>
      </p:sp>
      <p:sp>
        <p:nvSpPr>
          <p:cNvPr id="9" name="">
            <a:extLst xmlns:a="http://schemas.openxmlformats.org/drawingml/2006/main">
              <a:ext uri="{FF2B5EF4-FFF2-40B4-BE49-F238E27FC236}">
                <a16:creationId xmlns:a16="http://schemas.microsoft.com/office/drawing/2014/main" id="{2CE91F37-C5C0-453C-BA19-E81CE49AE810}"/>
              </a:ext>
            </a:extLst>
          </p:cNvPr>
          <p:cNvSpPr>
            <a:spLocks xmlns:a="http://schemas.openxmlformats.org/drawingml/2006/main" noGrp="1"/>
          </p:cNvSpPr>
          <p:nvPr/>
        </p:nvSpPr>
        <p:spPr>
          <a:xfrm xmlns:a="http://schemas.openxmlformats.org/drawingml/2006/main">
            <a:off x="6762750" y="2914650"/>
            <a:ext cx="471487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14B3C"/>
                </a:solidFill>
                <a:latin typeface="Noto Sans"/>
                <a:ea typeface="Noto Sans"/>
                <a:cs typeface="Noto Sans"/>
              </a:defRPr>
            </a:pPr>
            <a:r>
              <a:rPr sz="2175" b="0">
                <a:solidFill>
                  <a:srgbClr val="214B3C"/>
                </a:solidFill>
                <a:latin typeface="Noto Sans"/>
                <a:ea typeface="Noto Sans"/>
                <a:cs typeface="Noto Sans"/>
              </a:rPr>
              <a:t>4 coordinator hours</a:t>
            </a:r>
          </a:p>
          <a:p xmlns:a="http://schemas.openxmlformats.org/drawingml/2006/main">
            <a:pPr>
              <a:defRPr sz="2175" b="0">
                <a:solidFill>
                  <a:srgbClr val="214B3C"/>
                </a:solidFill>
                <a:latin typeface="Noto Sans"/>
                <a:ea typeface="Noto Sans"/>
                <a:cs typeface="Noto Sans"/>
              </a:defRPr>
            </a:pPr>
            <a:r>
              <a:rPr sz="2175" b="0">
                <a:solidFill>
                  <a:srgbClr val="214B3C"/>
                </a:solidFill>
                <a:latin typeface="Noto Sans"/>
                <a:ea typeface="Noto Sans"/>
                <a:cs typeface="Noto Sans"/>
              </a:rPr>
              <a:t>× €40 assumed hourly cost</a:t>
            </a:r>
          </a:p>
          <a:p xmlns:a="http://schemas.openxmlformats.org/drawingml/2006/main">
            <a:pPr>
              <a:defRPr sz="2175" b="0">
                <a:solidFill>
                  <a:srgbClr val="214B3C"/>
                </a:solidFill>
                <a:latin typeface="Noto Sans"/>
                <a:ea typeface="Noto Sans"/>
                <a:cs typeface="Noto Sans"/>
              </a:defRPr>
            </a:pPr>
            <a:r>
              <a:rPr sz="2175" b="0">
                <a:solidFill>
                  <a:srgbClr val="214B3C"/>
                </a:solidFill>
                <a:latin typeface="Noto Sans"/>
                <a:ea typeface="Noto Sans"/>
                <a:cs typeface="Noto Sans"/>
              </a:rPr>
              <a:t>= €160 of monthly capacity</a:t>
            </a:r>
          </a:p>
        </p:txBody>
      </p:sp>
      <p:sp>
        <p:nvSpPr>
          <p:cNvPr id="10" name="">
            <a:extLst xmlns:a="http://schemas.openxmlformats.org/drawingml/2006/main">
              <a:ext uri="{FF2B5EF4-FFF2-40B4-BE49-F238E27FC236}">
                <a16:creationId xmlns:a16="http://schemas.microsoft.com/office/drawing/2014/main" id="{37F73372-8EFE-4021-9457-4B63A734A441}"/>
              </a:ext>
            </a:extLst>
          </p:cNvPr>
          <p:cNvSpPr>
            <a:spLocks xmlns:a="http://schemas.openxmlformats.org/drawingml/2006/main" noGrp="1"/>
          </p:cNvSpPr>
          <p:nvPr/>
        </p:nvSpPr>
        <p:spPr>
          <a:xfrm xmlns:a="http://schemas.openxmlformats.org/drawingml/2006/main">
            <a:off x="628650" y="56292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14B3C"/>
                </a:solidFill>
                <a:latin typeface="Noto Sans"/>
                <a:ea typeface="Noto Sans"/>
                <a:cs typeface="Noto Sans"/>
              </a:defRPr>
            </a:pPr>
            <a:r>
              <a:rPr sz="1575" b="0">
                <a:solidFill>
                  <a:srgbClr val="214B3C"/>
                </a:solidFill>
                <a:latin typeface="Noto Sans"/>
                <a:ea typeface="Noto Sans"/>
                <a:cs typeface="Noto Sans"/>
              </a:rPr>
              <a:t>Pilot measures: time per report, assignment delay, completed rechecks, and safe coverage.</a:t>
            </a:r>
          </a:p>
        </p:txBody>
      </p:sp>
      <p:sp>
        <p:nvSpPr>
          <p:cNvPr id="11" name="">
            <a:extLst xmlns:a="http://schemas.openxmlformats.org/drawingml/2006/main">
              <a:ext uri="{FF2B5EF4-FFF2-40B4-BE49-F238E27FC236}">
                <a16:creationId xmlns:a16="http://schemas.microsoft.com/office/drawing/2014/main" id="{858DBD53-362D-442A-9FCE-7C74FE17A1DB}"/>
              </a:ext>
            </a:extLst>
          </p:cNvPr>
          <p:cNvSpPr>
            <a:spLocks xmlns:a="http://schemas.openxmlformats.org/drawingml/2006/main" noGrp="1"/>
          </p:cNvSpPr>
          <p:nvPr/>
        </p:nvSpPr>
        <p:spPr>
          <a:xfrm xmlns:a="http://schemas.openxmlformats.org/drawingml/2006/main">
            <a:off x="628650" y="6219825"/>
            <a:ext cx="1023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369"/>
                </a:solidFill>
                <a:latin typeface="Noto Sans"/>
                <a:ea typeface="Noto Sans"/>
                <a:cs typeface="Noto Sans"/>
              </a:defRPr>
            </a:pPr>
            <a:r>
              <a:rPr sz="1275" b="0">
                <a:solidFill>
                  <a:srgbClr val="667369"/>
                </a:solidFill>
                <a:latin typeface="Noto Sans"/>
                <a:ea typeface="Noto Sans"/>
                <a:cs typeface="Noto Sans"/>
              </a:rPr>
              <a:t>Pricing and savings are assumptions. No customers or measured savings are claimed.</a:t>
            </a:r>
          </a:p>
        </p:txBody>
      </p:sp>
    </p:spTree>
    <p:extLst>
      <p:ext uri="{BB962C8B-B14F-4D97-AF65-F5344CB8AC3E}">
        <p14:creationId xmlns:p14="http://schemas.microsoft.com/office/powerpoint/2010/main" val="1973337375"/>
      </p:ext>
    </p:extLst>
  </p:cSld>
</p:sld>
</file>

<file path=ppt/slides/slide8.xml><?xml version="1.0" encoding="utf-8"?>
<p:sld xmlns:p="http://schemas.openxmlformats.org/presentationml/2006/main">
  <p:cSld>
    <p:bg>
      <p:bgPr>
        <a:solidFill xmlns:a="http://schemas.openxmlformats.org/drawingml/2006/main">
          <a:srgbClr val="214B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FA40EB-20B9-4956-99FD-6C3B2705B0F7}"/>
              </a:ext>
            </a:extLst>
          </p:cNvPr>
          <p:cNvSpPr>
            <a:spLocks xmlns:a="http://schemas.openxmlformats.org/drawingml/2006/main" noGrp="1"/>
          </p:cNvSpPr>
          <p:nvPr/>
        </p:nvSpPr>
        <p:spPr>
          <a:xfrm xmlns:a="http://schemas.openxmlformats.org/drawingml/2006/main">
            <a:off x="571500" y="3048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DECAD"/>
                </a:solidFill>
                <a:latin typeface="Noto Sans"/>
                <a:ea typeface="Noto Sans"/>
                <a:cs typeface="Noto Sans"/>
              </a:defRPr>
            </a:pPr>
            <a:r>
              <a:rPr sz="1575" b="1">
                <a:solidFill>
                  <a:srgbClr val="DDECAD"/>
                </a:solidFill>
                <a:latin typeface="Noto Sans"/>
                <a:ea typeface="Noto Sans"/>
                <a:cs typeface="Noto Sans"/>
              </a:rPr>
              <a:t>Rill</a:t>
            </a:r>
          </a:p>
        </p:txBody>
      </p:sp>
      <p:sp>
        <p:nvSpPr>
          <p:cNvPr id="2" name="">
            <a:extLst xmlns:a="http://schemas.openxmlformats.org/drawingml/2006/main">
              <a:ext uri="{FF2B5EF4-FFF2-40B4-BE49-F238E27FC236}">
                <a16:creationId xmlns:a16="http://schemas.microsoft.com/office/drawing/2014/main" id="{9AB27BE4-410B-447F-B819-967810DEC688}"/>
              </a:ext>
            </a:extLst>
          </p:cNvPr>
          <p:cNvSpPr>
            <a:spLocks xmlns:a="http://schemas.openxmlformats.org/drawingml/2006/main" noGrp="1"/>
          </p:cNvSpPr>
          <p:nvPr/>
        </p:nvSpPr>
        <p:spPr>
          <a:xfrm xmlns:a="http://schemas.openxmlformats.org/drawingml/2006/main">
            <a:off x="10953750" y="6229350"/>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9BF"/>
                </a:solidFill>
                <a:latin typeface="Noto Sans"/>
                <a:ea typeface="Noto Sans"/>
                <a:cs typeface="Noto Sans"/>
              </a:defRPr>
            </a:pPr>
            <a:r>
              <a:rPr sz="1275" b="0">
                <a:solidFill>
                  <a:srgbClr val="B8C9BF"/>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902FC0A2-62C6-4987-806A-035A13718B37}"/>
              </a:ext>
            </a:extLst>
          </p:cNvPr>
          <p:cNvSpPr>
            <a:spLocks xmlns:a="http://schemas.openxmlformats.org/drawingml/2006/main" noGrp="1"/>
          </p:cNvSpPr>
          <p:nvPr/>
        </p:nvSpPr>
        <p:spPr>
          <a:xfrm xmlns:a="http://schemas.openxmlformats.org/drawingml/2006/main">
            <a:off x="571500" y="1200150"/>
            <a:ext cx="11096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0">
                <a:solidFill>
                  <a:srgbClr val="F5F6F1"/>
                </a:solidFill>
                <a:latin typeface="Caladea"/>
                <a:ea typeface="Caladea"/>
                <a:cs typeface="Caladea"/>
              </a:defRPr>
            </a:pPr>
            <a:r>
              <a:rPr sz="5700" b="0">
                <a:solidFill>
                  <a:srgbClr val="F5F6F1"/>
                </a:solidFill>
                <a:latin typeface="Caladea"/>
                <a:ea typeface="Caladea"/>
                <a:cs typeface="Caladea"/>
              </a:rPr>
              <a:t>A checked outcome</a:t>
            </a:r>
          </a:p>
          <a:p xmlns:a="http://schemas.openxmlformats.org/drawingml/2006/main">
            <a:pPr>
              <a:defRPr sz="5700" b="0">
                <a:solidFill>
                  <a:srgbClr val="F5F6F1"/>
                </a:solidFill>
                <a:latin typeface="Caladea"/>
                <a:ea typeface="Caladea"/>
                <a:cs typeface="Caladea"/>
              </a:defRPr>
            </a:pPr>
            <a:r>
              <a:rPr sz="5700" b="0">
                <a:solidFill>
                  <a:srgbClr val="F5F6F1"/>
                </a:solidFill>
                <a:latin typeface="Caladea"/>
                <a:ea typeface="Caladea"/>
                <a:cs typeface="Caladea"/>
              </a:rPr>
              <a:t>for every useful concern.</a:t>
            </a:r>
          </a:p>
        </p:txBody>
      </p:sp>
      <p:sp>
        <p:nvSpPr>
          <p:cNvPr id="4" name="">
            <a:extLst xmlns:a="http://schemas.openxmlformats.org/drawingml/2006/main">
              <a:ext uri="{FF2B5EF4-FFF2-40B4-BE49-F238E27FC236}">
                <a16:creationId xmlns:a16="http://schemas.microsoft.com/office/drawing/2014/main" id="{5B143200-DE96-43AB-BAB9-C712EA2ADC76}"/>
              </a:ext>
            </a:extLst>
          </p:cNvPr>
          <p:cNvSpPr>
            <a:spLocks xmlns:a="http://schemas.openxmlformats.org/drawingml/2006/main" noGrp="1"/>
          </p:cNvSpPr>
          <p:nvPr/>
        </p:nvSpPr>
        <p:spPr>
          <a:xfrm xmlns:a="http://schemas.openxmlformats.org/drawingml/2006/main">
            <a:off x="609600" y="4038600"/>
            <a:ext cx="1047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DDECAD"/>
                </a:solidFill>
                <a:latin typeface="Noto Sans"/>
                <a:ea typeface="Noto Sans"/>
                <a:cs typeface="Noto Sans"/>
              </a:defRPr>
            </a:pPr>
            <a:r>
              <a:rPr sz="2475" b="0">
                <a:solidFill>
                  <a:srgbClr val="DDECAD"/>
                </a:solidFill>
                <a:latin typeface="Noto Sans"/>
                <a:ea typeface="Noto Sans"/>
                <a:cs typeface="Noto Sans"/>
              </a:rPr>
              <a:t>Seeking one monitoring programme</a:t>
            </a:r>
          </a:p>
          <a:p xmlns:a="http://schemas.openxmlformats.org/drawingml/2006/main">
            <a:pPr>
              <a:defRPr sz="2475" b="0">
                <a:solidFill>
                  <a:srgbClr val="DDECAD"/>
                </a:solidFill>
                <a:latin typeface="Noto Sans"/>
                <a:ea typeface="Noto Sans"/>
                <a:cs typeface="Noto Sans"/>
              </a:defRPr>
            </a:pPr>
            <a:r>
              <a:rPr sz="2475" b="0">
                <a:solidFill>
                  <a:srgbClr val="DDECAD"/>
                </a:solidFill>
                <a:latin typeface="Noto Sans"/>
                <a:ea typeface="Noto Sans"/>
                <a:cs typeface="Noto Sans"/>
              </a:rPr>
              <a:t>for a supervised pilot.</a:t>
            </a:r>
          </a:p>
        </p:txBody>
      </p:sp>
      <p:sp>
        <p:nvSpPr>
          <p:cNvPr id="5" name="">
            <a:extLst xmlns:a="http://schemas.openxmlformats.org/drawingml/2006/main">
              <a:ext uri="{FF2B5EF4-FFF2-40B4-BE49-F238E27FC236}">
                <a16:creationId xmlns:a16="http://schemas.microsoft.com/office/drawing/2014/main" id="{0BD28518-ACF8-4DA9-8BD2-8DE84647646C}"/>
              </a:ext>
            </a:extLst>
          </p:cNvPr>
          <p:cNvSpPr>
            <a:spLocks xmlns:a="http://schemas.openxmlformats.org/drawingml/2006/main" noGrp="1"/>
          </p:cNvSpPr>
          <p:nvPr/>
        </p:nvSpPr>
        <p:spPr>
          <a:xfrm xmlns:a="http://schemas.openxmlformats.org/drawingml/2006/main">
            <a:off x="609600" y="5524500"/>
            <a:ext cx="990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5F6F1"/>
                </a:solidFill>
                <a:latin typeface="Noto Sans"/>
                <a:ea typeface="Noto Sans"/>
                <a:cs typeface="Noto Sans"/>
              </a:defRPr>
            </a:pPr>
            <a:r>
              <a:rPr sz="1725" b="0">
                <a:solidFill>
                  <a:srgbClr val="F5F6F1"/>
                </a:solidFill>
                <a:latin typeface="Noto Sans"/>
                <a:ea typeface="Noto Sans"/>
                <a:cs typeface="Noto Sans"/>
              </a:rPr>
              <a:t>Shivam Gupta · Project creator</a:t>
            </a:r>
          </a:p>
        </p:txBody>
      </p:sp>
      <p:sp>
        <p:nvSpPr>
          <p:cNvPr id="6" name="">
            <a:extLst xmlns:a="http://schemas.openxmlformats.org/drawingml/2006/main">
              <a:ext uri="{FF2B5EF4-FFF2-40B4-BE49-F238E27FC236}">
                <a16:creationId xmlns:a16="http://schemas.microsoft.com/office/drawing/2014/main" id="{832CC86E-70C5-4036-A7F3-FD4B6B35AC23}"/>
              </a:ext>
            </a:extLst>
          </p:cNvPr>
          <p:cNvSpPr>
            <a:spLocks xmlns:a="http://schemas.openxmlformats.org/drawingml/2006/main" noGrp="1"/>
          </p:cNvSpPr>
          <p:nvPr/>
        </p:nvSpPr>
        <p:spPr>
          <a:xfrm xmlns:a="http://schemas.openxmlformats.org/drawingml/2006/main">
            <a:off x="609600" y="6038850"/>
            <a:ext cx="9810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8C9BF"/>
                </a:solidFill>
                <a:latin typeface="Noto Sans"/>
                <a:ea typeface="Noto Sans"/>
                <a:cs typeface="Noto Sans"/>
              </a:defRPr>
            </a:pPr>
            <a:r>
              <a:rPr sz="1575" b="0">
                <a:solidFill>
                  <a:srgbClr val="B8C9BF"/>
                </a:solidFill>
                <a:latin typeface="Noto Sans"/>
                <a:ea typeface="Noto Sans"/>
                <a:cs typeface="Noto Sans"/>
              </a:rPr>
              <a:t>rill-streams.web.app · github.com/shi1720/OneAquaHealth</a:t>
            </a:r>
          </a:p>
        </p:txBody>
      </p:sp>
    </p:spTree>
    <p:extLst>
      <p:ext uri="{BB962C8B-B14F-4D97-AF65-F5344CB8AC3E}">
        <p14:creationId xmlns:p14="http://schemas.microsoft.com/office/powerpoint/2010/main" val="1627185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2026-09-23T05:45:17.1970000Z</dcterms:created>
  <dcterms:modified xsi:type="dcterms:W3CDTF">2026-09-23T05:45:17.1970000Z</dcterms:modified>
</coreProperties>
</file>